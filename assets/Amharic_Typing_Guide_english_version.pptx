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9.xml" ContentType="application/vnd.openxmlformats-officedocument.presentationml.slide+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73" r:id="rId24"/>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 Id="rId24" Type="http://schemas.openxmlformats.org/officeDocument/2006/relationships/slide" Target="slides/slide19.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4962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A4A7A"/>
          </a:solidFill>
          <a:ln w="12700">
            <a:solidFill>
              <a:srgbClr val="1A4A7A"/>
            </a:solidFill>
            <a:prstDash val="solid"/>
          </a:ln>
        </p:spPr>
        <p:txBody>
          <a:bodyPr/>
          <a:lstStyle/>
          <a:p>
            <a:endParaRPr lang="en-US"/>
          </a:p>
        </p:txBody>
      </p:sp>
      <p:sp>
        <p:nvSpPr>
          <p:cNvPr id="3" name="Shape 1"/>
          <p:cNvSpPr/>
          <p:nvPr/>
        </p:nvSpPr>
        <p:spPr>
          <a:xfrm>
            <a:off x="164592" y="2011680"/>
            <a:ext cx="8778240" cy="54864"/>
          </a:xfrm>
          <a:prstGeom prst="rect">
            <a:avLst/>
          </a:prstGeom>
          <a:solidFill>
            <a:srgbClr val="FCDC12"/>
          </a:solidFill>
          <a:ln w="12700">
            <a:solidFill>
              <a:srgbClr val="FCDC12"/>
            </a:solidFill>
            <a:prstDash val="solid"/>
          </a:ln>
        </p:spPr>
        <p:txBody>
          <a:bodyPr/>
          <a:lstStyle/>
          <a:p>
            <a:endParaRPr lang="en-US"/>
          </a:p>
        </p:txBody>
      </p:sp>
      <p:sp>
        <p:nvSpPr>
          <p:cNvPr id="5" name="Text 3"/>
          <p:cNvSpPr/>
          <p:nvPr/>
        </p:nvSpPr>
        <p:spPr>
          <a:xfrm>
            <a:off x="347472" y="488717"/>
            <a:ext cx="8412480" cy="822960"/>
          </a:xfrm>
          <a:prstGeom prst="rect">
            <a:avLst/>
          </a:prstGeom>
          <a:noFill/>
          <a:ln/>
        </p:spPr>
        <p:txBody>
          <a:bodyPr wrap="square" rtlCol="0" anchor="ctr"/>
          <a:lstStyle/>
          <a:p>
            <a:pPr marL="0" indent="0" algn="l">
              <a:buNone/>
            </a:pPr>
            <a:r>
              <a:rPr lang="en-US" sz="3400" b="1" dirty="0">
                <a:solidFill>
                  <a:srgbClr val="FFFFFF"/>
                </a:solidFill>
                <a:latin typeface="Georgia" pitchFamily="34" charset="0"/>
                <a:ea typeface="Georgia" pitchFamily="34" charset="-122"/>
                <a:cs typeface="Georgia" pitchFamily="34" charset="-120"/>
              </a:rPr>
              <a:t>Amharic Typing Games, full guide</a:t>
            </a:r>
            <a:endParaRPr lang="en-US" sz="3400" dirty="0"/>
          </a:p>
        </p:txBody>
      </p:sp>
      <p:sp>
        <p:nvSpPr>
          <p:cNvPr id="6" name="Text 4"/>
          <p:cNvSpPr/>
          <p:nvPr/>
        </p:nvSpPr>
        <p:spPr>
          <a:xfrm>
            <a:off x="457200" y="2194560"/>
            <a:ext cx="8412480" cy="502920"/>
          </a:xfrm>
          <a:prstGeom prst="rect">
            <a:avLst/>
          </a:prstGeom>
          <a:noFill/>
          <a:ln/>
        </p:spPr>
        <p:txBody>
          <a:bodyPr wrap="square" rtlCol="0" anchor="ctr"/>
          <a:lstStyle/>
          <a:p>
            <a:pPr marL="0" indent="0" algn="l">
              <a:buNone/>
            </a:pPr>
            <a:r>
              <a:rPr lang="en-US" sz="2000" dirty="0">
                <a:solidFill>
                  <a:srgbClr val="FCDC12"/>
                </a:solidFill>
                <a:latin typeface="Calibri" pitchFamily="34" charset="0"/>
                <a:ea typeface="Calibri" pitchFamily="34" charset="-122"/>
                <a:cs typeface="Calibri" pitchFamily="34" charset="-120"/>
              </a:rPr>
              <a:t>A Practical Guide to typing in Amharic</a:t>
            </a:r>
            <a:endParaRPr lang="en-US" sz="2000" dirty="0"/>
          </a:p>
        </p:txBody>
      </p:sp>
      <p:sp>
        <p:nvSpPr>
          <p:cNvPr id="7" name="Text 5"/>
          <p:cNvSpPr/>
          <p:nvPr/>
        </p:nvSpPr>
        <p:spPr>
          <a:xfrm>
            <a:off x="457200" y="2788920"/>
            <a:ext cx="8229600" cy="2194560"/>
          </a:xfrm>
          <a:prstGeom prst="rect">
            <a:avLst/>
          </a:prstGeom>
          <a:noFill/>
          <a:ln/>
        </p:spPr>
        <p:txBody>
          <a:bodyPr wrap="square" rtlCol="0" anchor="ctr"/>
          <a:lstStyle/>
          <a:p>
            <a:pPr marL="0" indent="0">
              <a:buNone/>
            </a:pPr>
            <a:r>
              <a:rPr lang="en-US" sz="1300" dirty="0">
                <a:solidFill>
                  <a:srgbClr val="F8F8F4"/>
                </a:solidFill>
                <a:latin typeface="Calibri" pitchFamily="34" charset="0"/>
                <a:ea typeface="Calibri" pitchFamily="34" charset="-122"/>
                <a:cs typeface="Calibri" pitchFamily="34" charset="-120"/>
              </a:rPr>
              <a:t>Getting Started with Keyman</a:t>
            </a:r>
            <a:endParaRPr lang="en-US" sz="1300" dirty="0"/>
          </a:p>
          <a:p>
            <a:pPr marL="0" indent="0">
              <a:buNone/>
            </a:pPr>
            <a:r>
              <a:rPr lang="en-US" sz="1300" dirty="0">
                <a:solidFill>
                  <a:srgbClr val="F8F8F4"/>
                </a:solidFill>
                <a:latin typeface="Calibri" pitchFamily="34" charset="0"/>
                <a:ea typeface="Calibri" pitchFamily="34" charset="-122"/>
                <a:cs typeface="Calibri" pitchFamily="34" charset="-120"/>
              </a:rPr>
              <a:t>1. How the Keyboard Works</a:t>
            </a:r>
            <a:endParaRPr lang="en-US" sz="1300" dirty="0"/>
          </a:p>
          <a:p>
            <a:pPr marL="0" indent="0">
              <a:buNone/>
            </a:pPr>
            <a:r>
              <a:rPr lang="en-US" sz="1300" dirty="0">
                <a:solidFill>
                  <a:srgbClr val="F8F8F4"/>
                </a:solidFill>
                <a:latin typeface="Calibri" pitchFamily="34" charset="0"/>
                <a:ea typeface="Calibri" pitchFamily="34" charset="-122"/>
                <a:cs typeface="Calibri" pitchFamily="34" charset="-120"/>
              </a:rPr>
              <a:t>2. The Four Typing Rules</a:t>
            </a:r>
            <a:endParaRPr lang="en-US" sz="1300" dirty="0"/>
          </a:p>
          <a:p>
            <a:pPr marL="0" indent="0">
              <a:buNone/>
            </a:pPr>
            <a:r>
              <a:rPr lang="en-US" sz="1300" dirty="0">
                <a:solidFill>
                  <a:srgbClr val="F8F8F4"/>
                </a:solidFill>
                <a:latin typeface="Calibri" pitchFamily="34" charset="0"/>
                <a:ea typeface="Calibri" pitchFamily="34" charset="-122"/>
                <a:cs typeface="Calibri" pitchFamily="34" charset="-120"/>
              </a:rPr>
              <a:t>3. Complete Letter Reference</a:t>
            </a:r>
            <a:endParaRPr lang="en-US" sz="1300" dirty="0"/>
          </a:p>
          <a:p>
            <a:pPr marL="0" indent="0">
              <a:buNone/>
            </a:pPr>
            <a:r>
              <a:rPr lang="en-US" sz="1300" dirty="0">
                <a:solidFill>
                  <a:srgbClr val="F8F8F4"/>
                </a:solidFill>
                <a:latin typeface="Calibri" pitchFamily="34" charset="0"/>
                <a:ea typeface="Calibri" pitchFamily="34" charset="-122"/>
                <a:cs typeface="Calibri" pitchFamily="34" charset="-120"/>
              </a:rPr>
              <a:t>4. Rounded-Lip Letters</a:t>
            </a:r>
            <a:endParaRPr lang="en-US" sz="1300" dirty="0"/>
          </a:p>
          <a:p>
            <a:pPr marL="0" indent="0">
              <a:buNone/>
            </a:pPr>
            <a:r>
              <a:rPr lang="en-US" sz="1300" dirty="0">
                <a:solidFill>
                  <a:srgbClr val="F8F8F4"/>
                </a:solidFill>
                <a:latin typeface="Calibri" pitchFamily="34" charset="0"/>
                <a:ea typeface="Calibri" pitchFamily="34" charset="-122"/>
                <a:cs typeface="Calibri" pitchFamily="34" charset="-120"/>
              </a:rPr>
              <a:t>5. Ethiopic Numbers</a:t>
            </a:r>
            <a:endParaRPr lang="en-US" sz="1300" dirty="0"/>
          </a:p>
          <a:p>
            <a:pPr marL="0" indent="0">
              <a:buNone/>
            </a:pPr>
            <a:r>
              <a:rPr lang="en-US" sz="1300" dirty="0">
                <a:solidFill>
                  <a:srgbClr val="F8F8F4"/>
                </a:solidFill>
                <a:latin typeface="Calibri" pitchFamily="34" charset="0"/>
                <a:ea typeface="Calibri" pitchFamily="34" charset="-122"/>
                <a:cs typeface="Calibri" pitchFamily="34" charset="-120"/>
              </a:rPr>
              <a:t>6. Punctuation</a:t>
            </a:r>
            <a:endParaRPr lang="en-US" sz="1300" dirty="0"/>
          </a:p>
          <a:p>
            <a:pPr marL="0" indent="0">
              <a:buNone/>
            </a:pPr>
            <a:r>
              <a:rPr lang="en-US" sz="1300" dirty="0">
                <a:solidFill>
                  <a:srgbClr val="F8F8F4"/>
                </a:solidFill>
                <a:latin typeface="Calibri" pitchFamily="34" charset="0"/>
                <a:ea typeface="Calibri" pitchFamily="34" charset="-122"/>
                <a:cs typeface="Calibri" pitchFamily="34" charset="-120"/>
              </a:rPr>
              <a:t>7. Quick Reference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8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4A7A"/>
          </a:solidFill>
          <a:ln w="12700">
            <a:solidFill>
              <a:srgbClr val="1A4A7A"/>
            </a:solidFill>
            <a:prstDash val="solid"/>
          </a:ln>
        </p:spPr>
        <p:txBody>
          <a:bodyPr/>
          <a:lstStyle/>
          <a:p>
            <a:endParaRPr lang="en-US"/>
          </a:p>
        </p:txBody>
      </p:sp>
      <p:sp>
        <p:nvSpPr>
          <p:cNvPr id="3" name="Text 1"/>
          <p:cNvSpPr/>
          <p:nvPr/>
        </p:nvSpPr>
        <p:spPr>
          <a:xfrm>
            <a:off x="274320" y="0"/>
            <a:ext cx="8595360" cy="5943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Getting Started with Keyman</a:t>
            </a:r>
            <a:endParaRPr lang="en-US" sz="2200" dirty="0"/>
          </a:p>
        </p:txBody>
      </p:sp>
      <p:sp>
        <p:nvSpPr>
          <p:cNvPr id="4" name="Text 2"/>
          <p:cNvSpPr/>
          <p:nvPr/>
        </p:nvSpPr>
        <p:spPr>
          <a:xfrm>
            <a:off x="365760" y="1005840"/>
            <a:ext cx="8412480" cy="502920"/>
          </a:xfrm>
          <a:prstGeom prst="rect">
            <a:avLst/>
          </a:prstGeom>
          <a:noFill/>
          <a:ln/>
        </p:spPr>
        <p:txBody>
          <a:bodyPr wrap="square" rtlCol="0" anchor="ctr"/>
          <a:lstStyle/>
          <a:p>
            <a:pPr marL="0" indent="0">
              <a:buNone/>
            </a:pPr>
            <a:r>
              <a:rPr lang="en-US" sz="1300" dirty="0">
                <a:solidFill>
                  <a:srgbClr val="1A1A2A"/>
                </a:solidFill>
                <a:latin typeface="Calibri" pitchFamily="34" charset="0"/>
                <a:ea typeface="Calibri" pitchFamily="34" charset="-122"/>
                <a:cs typeface="Calibri" pitchFamily="34" charset="-120"/>
              </a:rPr>
              <a:t>Keyman is a free input method manager that lets you type Amharic on any standard keyboard. The Amharic Typing Game's app should have installed it automatically.</a:t>
            </a:r>
            <a:endParaRPr lang="en-US" sz="1300" dirty="0"/>
          </a:p>
        </p:txBody>
      </p:sp>
      <p:sp>
        <p:nvSpPr>
          <p:cNvPr id="5" name="Text 3"/>
          <p:cNvSpPr/>
          <p:nvPr/>
        </p:nvSpPr>
        <p:spPr>
          <a:xfrm>
            <a:off x="365760" y="1554480"/>
            <a:ext cx="8412480" cy="292608"/>
          </a:xfrm>
          <a:prstGeom prst="rect">
            <a:avLst/>
          </a:prstGeom>
          <a:noFill/>
          <a:ln/>
        </p:spPr>
        <p:txBody>
          <a:bodyPr wrap="square" rtlCol="0" anchor="ctr"/>
          <a:lstStyle/>
          <a:p>
            <a:pPr marL="0" indent="0">
              <a:buNone/>
            </a:pPr>
            <a:r>
              <a:rPr lang="en-US" sz="1400" b="1" dirty="0">
                <a:solidFill>
                  <a:srgbClr val="1A4A7A"/>
                </a:solidFill>
                <a:latin typeface="Georgia" pitchFamily="34" charset="0"/>
                <a:ea typeface="Georgia" pitchFamily="34" charset="-122"/>
                <a:cs typeface="Georgia" pitchFamily="34" charset="-120"/>
              </a:rPr>
              <a:t>How to Check if Keyman is Installed</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1874520"/>
          <a:ext cx="8412480" cy="2011680"/>
        </p:xfrm>
        <a:graphic>
          <a:graphicData uri="http://schemas.openxmlformats.org/drawingml/2006/table">
            <a:tbl>
              <a:tblPr/>
              <a:tblGrid>
                <a:gridCol w="14630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36576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Operating System</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Where to Look</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You Should See</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365760">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Windows</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System tray (bottom-right corner of taskbar)</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A "K" icon in the notification area. Click it to see active keyboards.</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macOS</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Menu bar (top-right of screen)</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A flag or language icon. Open System Settings &gt; Keyboard &gt; Input Sources and look for "Amharic (Keyman)".</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Linux</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Input method panel or terminal</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Run: keyman --version in a terminal. A version number confirms it is installed.</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Any</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Open any text editor</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Switch to the Amharic keyboard and type "se" — you should see ሰ appear.</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Text 4"/>
          <p:cNvSpPr/>
          <p:nvPr/>
        </p:nvSpPr>
        <p:spPr>
          <a:xfrm>
            <a:off x="365760" y="3977640"/>
            <a:ext cx="8412480" cy="502920"/>
          </a:xfrm>
          <a:prstGeom prst="rect">
            <a:avLst/>
          </a:prstGeom>
          <a:solidFill>
            <a:srgbClr val="D6E0EC"/>
          </a:solidFill>
          <a:ln/>
        </p:spPr>
        <p:txBody>
          <a:bodyPr wrap="square" lIns="63500" tIns="63500" rIns="63500" bIns="63500" rtlCol="0" anchor="ctr"/>
          <a:lstStyle/>
          <a:p>
            <a:pPr marL="0" indent="0">
              <a:buNone/>
            </a:pPr>
            <a:r>
              <a:rPr lang="en-US" sz="1100" dirty="0">
                <a:solidFill>
                  <a:srgbClr val="4A6A9E"/>
                </a:solidFill>
                <a:latin typeface="Calibri" pitchFamily="34" charset="0"/>
                <a:ea typeface="Calibri" pitchFamily="34" charset="-122"/>
                <a:cs typeface="Calibri" pitchFamily="34" charset="-120"/>
              </a:rPr>
              <a:t>💡 Tip: If you saw an installation prompt when you first launched the app, Keyman is likely already set up. Skip straight to the verification step.</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8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4A7A"/>
          </a:solidFill>
          <a:ln w="12700">
            <a:solidFill>
              <a:srgbClr val="1A4A7A"/>
            </a:solidFill>
            <a:prstDash val="solid"/>
          </a:ln>
        </p:spPr>
        <p:txBody>
          <a:bodyPr/>
          <a:lstStyle/>
          <a:p>
            <a:endParaRPr lang="en-US"/>
          </a:p>
        </p:txBody>
      </p:sp>
      <p:sp>
        <p:nvSpPr>
          <p:cNvPr id="3" name="Text 1"/>
          <p:cNvSpPr/>
          <p:nvPr/>
        </p:nvSpPr>
        <p:spPr>
          <a:xfrm>
            <a:off x="274320" y="0"/>
            <a:ext cx="8595360" cy="5943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Installing Keyman</a:t>
            </a:r>
            <a:endParaRPr lang="en-US" sz="2200" dirty="0"/>
          </a:p>
        </p:txBody>
      </p:sp>
      <p:sp>
        <p:nvSpPr>
          <p:cNvPr id="4" name="Text 2"/>
          <p:cNvSpPr/>
          <p:nvPr/>
        </p:nvSpPr>
        <p:spPr>
          <a:xfrm>
            <a:off x="274320" y="621792"/>
            <a:ext cx="8595360" cy="320040"/>
          </a:xfrm>
          <a:prstGeom prst="rect">
            <a:avLst/>
          </a:prstGeom>
          <a:noFill/>
          <a:ln/>
        </p:spPr>
        <p:txBody>
          <a:bodyPr wrap="square" rtlCol="0" anchor="ctr"/>
          <a:lstStyle/>
          <a:p>
            <a:pPr marL="0" indent="0">
              <a:buNone/>
            </a:pPr>
            <a:r>
              <a:rPr lang="en-US" sz="1300" i="1" dirty="0">
                <a:solidFill>
                  <a:srgbClr val="555555"/>
                </a:solidFill>
                <a:latin typeface="Calibri" pitchFamily="34" charset="0"/>
                <a:ea typeface="Calibri" pitchFamily="34" charset="-122"/>
                <a:cs typeface="Calibri" pitchFamily="34" charset="-120"/>
              </a:rPr>
              <a:t>If Keyman is not already installed, follow these steps:</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2926080"/>
        </p:xfrm>
        <a:graphic>
          <a:graphicData uri="http://schemas.openxmlformats.org/drawingml/2006/table">
            <a:tbl>
              <a:tblPr/>
              <a:tblGrid>
                <a:gridCol w="640080">
                  <a:extLst>
                    <a:ext uri="{9D8B030D-6E8A-4147-A177-3AD203B41FA5}">
                      <a16:colId xmlns:a16="http://schemas.microsoft.com/office/drawing/2014/main" val="20000"/>
                    </a:ext>
                  </a:extLst>
                </a:gridCol>
                <a:gridCol w="7772400">
                  <a:extLst>
                    <a:ext uri="{9D8B030D-6E8A-4147-A177-3AD203B41FA5}">
                      <a16:colId xmlns:a16="http://schemas.microsoft.com/office/drawing/2014/main" val="20001"/>
                    </a:ext>
                  </a:extLst>
                </a:gridCol>
              </a:tblGrid>
              <a:tr h="45720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Step</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457200">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Visit keyman.com in your web browser and click Download Keyman. The site detects your operating system automatically.</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Run the installer and follow the on-screen prompts. On Windows and macOS you may need to grant administrator permission.</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After installation, open Keyman Configuration (from the system tray or menu bar icon). Go to Keyboard Layouts and search for Amharic.</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Click Install next to the Amharic keyboard package, then confirm. Keyman will download and activate it.</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Restart the Amharic Typing Game's app. Your keyboard is now ready — type selam and watch ሰላም appear!</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p:nvPr/>
        </p:nvSpPr>
        <p:spPr>
          <a:xfrm>
            <a:off x="365760" y="4023360"/>
            <a:ext cx="8412480" cy="594360"/>
          </a:xfrm>
          <a:prstGeom prst="rect">
            <a:avLst/>
          </a:prstGeom>
          <a:solidFill>
            <a:srgbClr val="FFF3CC"/>
          </a:solidFill>
          <a:ln/>
        </p:spPr>
        <p:txBody>
          <a:bodyPr wrap="square" lIns="63500" tIns="63500" rIns="63500" bIns="63500" rtlCol="0" anchor="ctr"/>
          <a:lstStyle/>
          <a:p>
            <a:pPr marL="0" indent="0">
              <a:buNone/>
            </a:pPr>
            <a:r>
              <a:rPr lang="en-US" sz="1100" dirty="0">
                <a:solidFill>
                  <a:srgbClr val="7A3A00"/>
                </a:solidFill>
                <a:latin typeface="Calibri" pitchFamily="34" charset="0"/>
                <a:ea typeface="Calibri" pitchFamily="34" charset="-122"/>
                <a:cs typeface="Calibri" pitchFamily="34" charset="-120"/>
              </a:rPr>
              <a:t>Still not working? Make sure you have selected the Amharic keyboard in Keyman before typing. Click the Keyman icon and select Amharic. On some systems you may need to log out and back in after first installation.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8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4A7A"/>
          </a:solidFill>
          <a:ln w="12700">
            <a:solidFill>
              <a:srgbClr val="1A4A7A"/>
            </a:solidFill>
            <a:prstDash val="solid"/>
          </a:ln>
        </p:spPr>
        <p:txBody>
          <a:bodyPr/>
          <a:lstStyle/>
          <a:p>
            <a:endParaRPr lang="en-US"/>
          </a:p>
        </p:txBody>
      </p:sp>
      <p:sp>
        <p:nvSpPr>
          <p:cNvPr id="3" name="Text 1"/>
          <p:cNvSpPr/>
          <p:nvPr/>
        </p:nvSpPr>
        <p:spPr>
          <a:xfrm>
            <a:off x="274320" y="0"/>
            <a:ext cx="8595360" cy="5943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1. How the Keyman Amharic Keyboard Works</a:t>
            </a:r>
            <a:endParaRPr lang="en-US" sz="2200" dirty="0"/>
          </a:p>
        </p:txBody>
      </p:sp>
      <p:sp>
        <p:nvSpPr>
          <p:cNvPr id="4" name="Text 2"/>
          <p:cNvSpPr/>
          <p:nvPr/>
        </p:nvSpPr>
        <p:spPr>
          <a:xfrm>
            <a:off x="365760" y="731520"/>
            <a:ext cx="8412480" cy="502920"/>
          </a:xfrm>
          <a:prstGeom prst="rect">
            <a:avLst/>
          </a:prstGeom>
          <a:noFill/>
          <a:ln/>
        </p:spPr>
        <p:txBody>
          <a:bodyPr wrap="square" rtlCol="0" anchor="ctr"/>
          <a:lstStyle/>
          <a:p>
            <a:pPr marL="0" indent="0">
              <a:buNone/>
            </a:pPr>
            <a:r>
              <a:rPr lang="en-US" sz="1300" dirty="0">
                <a:solidFill>
                  <a:srgbClr val="1A1A2A"/>
                </a:solidFill>
                <a:latin typeface="Calibri" pitchFamily="34" charset="0"/>
                <a:ea typeface="Calibri" pitchFamily="34" charset="-122"/>
                <a:cs typeface="Calibri" pitchFamily="34" charset="-120"/>
              </a:rPr>
              <a:t>The Keyman Amharic keyboard uses a phonetic system — you type the sounds of Amharic words using English letters, and the keyboard converts them into the correct Amharic (Ethiopic) script.</a:t>
            </a:r>
            <a:endParaRPr lang="en-US" sz="1300" dirty="0"/>
          </a:p>
        </p:txBody>
      </p:sp>
      <p:sp>
        <p:nvSpPr>
          <p:cNvPr id="5" name="Shape 3"/>
          <p:cNvSpPr/>
          <p:nvPr/>
        </p:nvSpPr>
        <p:spPr>
          <a:xfrm>
            <a:off x="365760" y="1298448"/>
            <a:ext cx="8412480" cy="658368"/>
          </a:xfrm>
          <a:prstGeom prst="rect">
            <a:avLst/>
          </a:prstGeom>
          <a:solidFill>
            <a:srgbClr val="D6E0EC"/>
          </a:solidFill>
          <a:ln w="12700">
            <a:solidFill>
              <a:srgbClr val="4A6A9E"/>
            </a:solidFill>
            <a:prstDash val="solid"/>
          </a:ln>
        </p:spPr>
        <p:txBody>
          <a:bodyPr/>
          <a:lstStyle/>
          <a:p>
            <a:endParaRPr lang="en-US"/>
          </a:p>
        </p:txBody>
      </p:sp>
      <p:sp>
        <p:nvSpPr>
          <p:cNvPr id="6" name="Text 4"/>
          <p:cNvSpPr/>
          <p:nvPr/>
        </p:nvSpPr>
        <p:spPr>
          <a:xfrm>
            <a:off x="548640" y="1371600"/>
            <a:ext cx="8046720" cy="502920"/>
          </a:xfrm>
          <a:prstGeom prst="rect">
            <a:avLst/>
          </a:prstGeom>
          <a:noFill/>
          <a:ln/>
        </p:spPr>
        <p:txBody>
          <a:bodyPr wrap="square" rtlCol="0" anchor="ctr"/>
          <a:lstStyle/>
          <a:p>
            <a:pPr marL="0" indent="0">
              <a:buNone/>
            </a:pPr>
            <a:r>
              <a:rPr lang="en-US" sz="1800" b="1" dirty="0">
                <a:solidFill>
                  <a:srgbClr val="1A1A2A"/>
                </a:solidFill>
                <a:latin typeface="Courier New" pitchFamily="34" charset="0"/>
                <a:ea typeface="Courier New" pitchFamily="34" charset="-122"/>
                <a:cs typeface="Courier New" pitchFamily="34" charset="-120"/>
              </a:rPr>
              <a:t xml:space="preserve">selam  →  </a:t>
            </a:r>
            <a:r>
              <a:rPr lang="en-US" sz="2200" b="1" dirty="0">
                <a:solidFill>
                  <a:srgbClr val="1A4A7A"/>
                </a:solidFill>
                <a:latin typeface="Calibri" pitchFamily="34" charset="0"/>
                <a:ea typeface="Calibri" pitchFamily="34" charset="-122"/>
                <a:cs typeface="Calibri" pitchFamily="34" charset="-120"/>
              </a:rPr>
              <a:t>ሰላም</a:t>
            </a:r>
            <a:r>
              <a:rPr lang="en-US" sz="1500" i="1" dirty="0">
                <a:solidFill>
                  <a:srgbClr val="555555"/>
                </a:solidFill>
                <a:latin typeface="Calibri" pitchFamily="34" charset="0"/>
                <a:ea typeface="Calibri" pitchFamily="34" charset="-122"/>
                <a:cs typeface="Calibri" pitchFamily="34" charset="-120"/>
              </a:rPr>
              <a:t xml:space="preserve">   Hello / Peace</a:t>
            </a:r>
            <a:endParaRPr lang="en-US" sz="1800" dirty="0"/>
          </a:p>
        </p:txBody>
      </p:sp>
      <p:sp>
        <p:nvSpPr>
          <p:cNvPr id="7" name="Text 5"/>
          <p:cNvSpPr/>
          <p:nvPr/>
        </p:nvSpPr>
        <p:spPr>
          <a:xfrm>
            <a:off x="365760" y="2057400"/>
            <a:ext cx="8412480" cy="292608"/>
          </a:xfrm>
          <a:prstGeom prst="rect">
            <a:avLst/>
          </a:prstGeom>
          <a:noFill/>
          <a:ln/>
        </p:spPr>
        <p:txBody>
          <a:bodyPr wrap="square" rtlCol="0" anchor="ctr"/>
          <a:lstStyle/>
          <a:p>
            <a:pPr marL="0" indent="0">
              <a:buNone/>
            </a:pPr>
            <a:r>
              <a:rPr lang="en-US" sz="1400" b="1" dirty="0">
                <a:solidFill>
                  <a:srgbClr val="1A4A7A"/>
                </a:solidFill>
                <a:latin typeface="Georgia" pitchFamily="34" charset="0"/>
                <a:ea typeface="Georgia" pitchFamily="34" charset="-122"/>
                <a:cs typeface="Georgia" pitchFamily="34" charset="-120"/>
              </a:rPr>
              <a:t>The Seven Orders — Example with letter M:</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2377440"/>
          <a:ext cx="8412480" cy="2407920"/>
        </p:xfrm>
        <a:graphic>
          <a:graphicData uri="http://schemas.openxmlformats.org/drawingml/2006/table">
            <a:tbl>
              <a:tblPr/>
              <a:tblGrid>
                <a:gridCol w="8229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2651760">
                  <a:extLst>
                    <a:ext uri="{9D8B030D-6E8A-4147-A177-3AD203B41FA5}">
                      <a16:colId xmlns:a16="http://schemas.microsoft.com/office/drawing/2014/main" val="20004"/>
                    </a:ext>
                  </a:extLst>
                </a:gridCol>
              </a:tblGrid>
              <a:tr h="27432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Order</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Name</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Vowel sound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274320">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1st</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ግዕዝ</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–e– (like "men")</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me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መ</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2nd</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ካዕብ</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–u– (like "moon")</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mu</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ሙ</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3rd</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ሣልስ</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–i– (like "meet")</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mi</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ሚ</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4th</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ራብዕ</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–a– (like "ma")</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ma</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ማ</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5th</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ኃምስ</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–ie– (like "meh")</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mie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ሜ</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6th</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ሳድስ</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no vowel (neutral)</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m</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ም</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74320">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7th</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ሳብዕ</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–o– (like "more")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mo</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ሞ</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9" name="Text 6"/>
          <p:cNvSpPr/>
          <p:nvPr/>
        </p:nvSpPr>
        <p:spPr>
          <a:xfrm>
            <a:off x="365760" y="4800600"/>
            <a:ext cx="8412480" cy="256032"/>
          </a:xfrm>
          <a:prstGeom prst="rect">
            <a:avLst/>
          </a:prstGeom>
          <a:noFill/>
          <a:ln/>
        </p:spPr>
        <p:txBody>
          <a:bodyPr wrap="square" rtlCol="0" anchor="ctr"/>
          <a:lstStyle/>
          <a:p>
            <a:pPr marL="0" indent="0">
              <a:buNone/>
            </a:pPr>
            <a:r>
              <a:rPr lang="en-US" sz="1100" i="1" dirty="0">
                <a:solidFill>
                  <a:srgbClr val="4A6A9E"/>
                </a:solidFill>
                <a:latin typeface="Calibri" pitchFamily="34" charset="0"/>
                <a:ea typeface="Calibri" pitchFamily="34" charset="-122"/>
                <a:cs typeface="Calibri" pitchFamily="34" charset="-120"/>
              </a:rPr>
              <a:t>Tip: The 6th order is typed with the consonant alone — no vowel.   m = ም   s = ስ   b = ብ</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8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4A7A"/>
          </a:solidFill>
          <a:ln w="12700">
            <a:solidFill>
              <a:srgbClr val="1A4A7A"/>
            </a:solidFill>
            <a:prstDash val="solid"/>
          </a:ln>
        </p:spPr>
        <p:txBody>
          <a:bodyPr/>
          <a:lstStyle/>
          <a:p>
            <a:endParaRPr lang="en-US"/>
          </a:p>
        </p:txBody>
      </p:sp>
      <p:sp>
        <p:nvSpPr>
          <p:cNvPr id="3" name="Text 1"/>
          <p:cNvSpPr/>
          <p:nvPr/>
        </p:nvSpPr>
        <p:spPr>
          <a:xfrm>
            <a:off x="274320" y="0"/>
            <a:ext cx="8595360" cy="5943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2. The Four Typing Rules (Rules 1 &amp; 2)</a:t>
            </a:r>
            <a:endParaRPr lang="en-US" sz="2200" dirty="0"/>
          </a:p>
        </p:txBody>
      </p:sp>
      <p:sp>
        <p:nvSpPr>
          <p:cNvPr id="4" name="Shape 2"/>
          <p:cNvSpPr/>
          <p:nvPr/>
        </p:nvSpPr>
        <p:spPr>
          <a:xfrm>
            <a:off x="365760" y="731519"/>
            <a:ext cx="54864" cy="2193264"/>
          </a:xfrm>
          <a:prstGeom prst="rect">
            <a:avLst/>
          </a:prstGeom>
          <a:solidFill>
            <a:srgbClr val="FCDC12"/>
          </a:solidFill>
          <a:ln w="12700">
            <a:solidFill>
              <a:srgbClr val="FCDC12"/>
            </a:solidFill>
            <a:prstDash val="solid"/>
          </a:ln>
        </p:spPr>
        <p:txBody>
          <a:bodyPr/>
          <a:lstStyle/>
          <a:p>
            <a:endParaRPr lang="en-US"/>
          </a:p>
        </p:txBody>
      </p:sp>
      <p:sp>
        <p:nvSpPr>
          <p:cNvPr id="5" name="Text 3"/>
          <p:cNvSpPr/>
          <p:nvPr/>
        </p:nvSpPr>
        <p:spPr>
          <a:xfrm>
            <a:off x="548640" y="722376"/>
            <a:ext cx="8229600" cy="292608"/>
          </a:xfrm>
          <a:prstGeom prst="rect">
            <a:avLst/>
          </a:prstGeom>
          <a:noFill/>
          <a:ln/>
        </p:spPr>
        <p:txBody>
          <a:bodyPr wrap="square" rtlCol="0" anchor="ctr"/>
          <a:lstStyle/>
          <a:p>
            <a:pPr marL="0" indent="0">
              <a:buNone/>
            </a:pPr>
            <a:r>
              <a:rPr lang="en-US" sz="1400" b="1" dirty="0">
                <a:solidFill>
                  <a:srgbClr val="1A1A2A"/>
                </a:solidFill>
                <a:latin typeface="Georgia" pitchFamily="34" charset="0"/>
                <a:ea typeface="Georgia" pitchFamily="34" charset="-122"/>
                <a:cs typeface="Georgia" pitchFamily="34" charset="-120"/>
              </a:rPr>
              <a:t>Rule 1 — Capital Letters for Emphatic Sounds</a:t>
            </a:r>
            <a:endParaRPr lang="en-US" sz="1400" dirty="0"/>
          </a:p>
        </p:txBody>
      </p:sp>
      <p:sp>
        <p:nvSpPr>
          <p:cNvPr id="6" name="Text 4"/>
          <p:cNvSpPr/>
          <p:nvPr/>
        </p:nvSpPr>
        <p:spPr>
          <a:xfrm>
            <a:off x="548640" y="1069848"/>
            <a:ext cx="8229600" cy="192802"/>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Some Amharic sounds are stronger versions of English sounds. For these, type the CAPITAL (uppercase) letter.</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69056668"/>
              </p:ext>
            </p:extLst>
          </p:nvPr>
        </p:nvGraphicFramePr>
        <p:xfrm>
          <a:off x="548640" y="1317514"/>
          <a:ext cx="8046720" cy="149352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25603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Notes</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256032">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Te</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ጠ</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Emphatic T — 1st order</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Tu / Ti / Ta</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ጡ / ጢ / ጣ</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Other orders</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6032">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T</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ጥ</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6th order (no vowel)</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TienaysTlN</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ጤናይስጥልኝ</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"How are you?" (informal)</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Shape 5"/>
          <p:cNvSpPr/>
          <p:nvPr/>
        </p:nvSpPr>
        <p:spPr>
          <a:xfrm>
            <a:off x="365760" y="3102086"/>
            <a:ext cx="54864" cy="1828800"/>
          </a:xfrm>
          <a:prstGeom prst="rect">
            <a:avLst/>
          </a:prstGeom>
          <a:solidFill>
            <a:srgbClr val="E03030"/>
          </a:solidFill>
          <a:ln w="12700">
            <a:solidFill>
              <a:srgbClr val="E03030"/>
            </a:solidFill>
            <a:prstDash val="solid"/>
          </a:ln>
        </p:spPr>
        <p:txBody>
          <a:bodyPr/>
          <a:lstStyle/>
          <a:p>
            <a:endParaRPr lang="en-US"/>
          </a:p>
        </p:txBody>
      </p:sp>
      <p:sp>
        <p:nvSpPr>
          <p:cNvPr id="9" name="Text 6"/>
          <p:cNvSpPr/>
          <p:nvPr/>
        </p:nvSpPr>
        <p:spPr>
          <a:xfrm>
            <a:off x="548640" y="3102086"/>
            <a:ext cx="8229600" cy="292608"/>
          </a:xfrm>
          <a:prstGeom prst="rect">
            <a:avLst/>
          </a:prstGeom>
          <a:noFill/>
          <a:ln/>
        </p:spPr>
        <p:txBody>
          <a:bodyPr wrap="square" rtlCol="0" anchor="ctr"/>
          <a:lstStyle/>
          <a:p>
            <a:pPr marL="0" indent="0">
              <a:buNone/>
            </a:pPr>
            <a:r>
              <a:rPr lang="en-US" sz="1400" b="1" dirty="0">
                <a:solidFill>
                  <a:srgbClr val="1A1A2A"/>
                </a:solidFill>
                <a:latin typeface="Georgia" pitchFamily="34" charset="0"/>
                <a:ea typeface="Georgia" pitchFamily="34" charset="-122"/>
                <a:cs typeface="Georgia" pitchFamily="34" charset="-120"/>
              </a:rPr>
              <a:t>Rule 2 — Double Letters for Rare Sounds</a:t>
            </a:r>
            <a:endParaRPr lang="en-US" sz="1400" dirty="0"/>
          </a:p>
        </p:txBody>
      </p:sp>
      <p:sp>
        <p:nvSpPr>
          <p:cNvPr id="10" name="Text 7"/>
          <p:cNvSpPr/>
          <p:nvPr/>
        </p:nvSpPr>
        <p:spPr>
          <a:xfrm>
            <a:off x="548640" y="3303254"/>
            <a:ext cx="8229600" cy="347472"/>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For sounds that are more distinct, type the same key twice. If the capital doesn't give what you want, try doubling it.</a:t>
            </a:r>
            <a:endParaRPr lang="en-US" sz="1200" dirty="0"/>
          </a:p>
        </p:txBody>
      </p:sp>
      <p:graphicFrame>
        <p:nvGraphicFramePr>
          <p:cNvPr id="11" name="Table 1"/>
          <p:cNvGraphicFramePr>
            <a:graphicFrameLocks noGrp="1"/>
          </p:cNvGraphicFramePr>
          <p:nvPr>
            <p:extLst>
              <p:ext uri="{D42A27DB-BD31-4B8C-83A1-F6EECF244321}">
                <p14:modId xmlns:p14="http://schemas.microsoft.com/office/powerpoint/2010/main" val="1924570522"/>
              </p:ext>
            </p:extLst>
          </p:nvPr>
        </p:nvGraphicFramePr>
        <p:xfrm>
          <a:off x="548640" y="3654682"/>
          <a:ext cx="8046720" cy="118872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25603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Notes</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256032">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se</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ሰ</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Regular S</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sse</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ሠ</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Rare S (older letter)</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6032">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SSe</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ፀ</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Double-capital (e.g., ፀሐይ — Sun: SSeHey)</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8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4A7A"/>
          </a:solidFill>
          <a:ln w="12700">
            <a:solidFill>
              <a:srgbClr val="1A4A7A"/>
            </a:solidFill>
            <a:prstDash val="solid"/>
          </a:ln>
        </p:spPr>
        <p:txBody>
          <a:bodyPr/>
          <a:lstStyle/>
          <a:p>
            <a:endParaRPr lang="en-US"/>
          </a:p>
        </p:txBody>
      </p:sp>
      <p:sp>
        <p:nvSpPr>
          <p:cNvPr id="3" name="Text 1"/>
          <p:cNvSpPr/>
          <p:nvPr/>
        </p:nvSpPr>
        <p:spPr>
          <a:xfrm>
            <a:off x="274320" y="0"/>
            <a:ext cx="8595360" cy="5943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2. The Four Typing Rules (Rules 3 &amp; 4)</a:t>
            </a:r>
            <a:endParaRPr lang="en-US" sz="2200" dirty="0"/>
          </a:p>
        </p:txBody>
      </p:sp>
      <p:sp>
        <p:nvSpPr>
          <p:cNvPr id="4" name="Shape 2"/>
          <p:cNvSpPr/>
          <p:nvPr/>
        </p:nvSpPr>
        <p:spPr>
          <a:xfrm>
            <a:off x="365760" y="731519"/>
            <a:ext cx="54864" cy="2043651"/>
          </a:xfrm>
          <a:prstGeom prst="rect">
            <a:avLst/>
          </a:prstGeom>
          <a:solidFill>
            <a:srgbClr val="1A4A7A"/>
          </a:solidFill>
          <a:ln w="12700">
            <a:solidFill>
              <a:srgbClr val="1A4A7A"/>
            </a:solidFill>
            <a:prstDash val="solid"/>
          </a:ln>
        </p:spPr>
        <p:txBody>
          <a:bodyPr/>
          <a:lstStyle/>
          <a:p>
            <a:endParaRPr lang="en-US"/>
          </a:p>
        </p:txBody>
      </p:sp>
      <p:sp>
        <p:nvSpPr>
          <p:cNvPr id="5" name="Text 3"/>
          <p:cNvSpPr/>
          <p:nvPr/>
        </p:nvSpPr>
        <p:spPr>
          <a:xfrm>
            <a:off x="548640" y="675910"/>
            <a:ext cx="8229600" cy="292608"/>
          </a:xfrm>
          <a:prstGeom prst="rect">
            <a:avLst/>
          </a:prstGeom>
          <a:noFill/>
          <a:ln/>
        </p:spPr>
        <p:txBody>
          <a:bodyPr wrap="square" rtlCol="0" anchor="ctr"/>
          <a:lstStyle/>
          <a:p>
            <a:pPr marL="0" indent="0">
              <a:buNone/>
            </a:pPr>
            <a:r>
              <a:rPr lang="en-US" sz="1400" b="1" dirty="0">
                <a:solidFill>
                  <a:srgbClr val="1A1A2A"/>
                </a:solidFill>
                <a:latin typeface="Georgia" pitchFamily="34" charset="0"/>
                <a:ea typeface="Georgia" pitchFamily="34" charset="-122"/>
                <a:cs typeface="Georgia" pitchFamily="34" charset="-120"/>
              </a:rPr>
              <a:t>Rule 3 — Extra Vowel After u for Rounded-Lip Letters</a:t>
            </a:r>
            <a:endParaRPr lang="en-US" sz="1400" dirty="0"/>
          </a:p>
        </p:txBody>
      </p:sp>
      <p:sp>
        <p:nvSpPr>
          <p:cNvPr id="6" name="Text 4"/>
          <p:cNvSpPr/>
          <p:nvPr/>
        </p:nvSpPr>
        <p:spPr>
          <a:xfrm>
            <a:off x="548640" y="929964"/>
            <a:ext cx="8229600" cy="292608"/>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Some Amharic letters are pronounced with rounded lips (like w). Type: consonant + u + extra vowel.</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2226275870"/>
              </p:ext>
            </p:extLst>
          </p:nvPr>
        </p:nvGraphicFramePr>
        <p:xfrm>
          <a:off x="548640" y="1233370"/>
          <a:ext cx="8046720" cy="149352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258257">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Breakdown</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286953">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mua</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ሟ</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M + rounded lips + A</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86953">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gua</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ጓ</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G + rounded lips + A</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86953">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guie</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ጔ</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G + rounded lips + IE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86953">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kua</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ኳ</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K + rounded lips + A</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Shape 5"/>
          <p:cNvSpPr/>
          <p:nvPr/>
        </p:nvSpPr>
        <p:spPr>
          <a:xfrm>
            <a:off x="365760" y="2983149"/>
            <a:ext cx="54864" cy="2043651"/>
          </a:xfrm>
          <a:prstGeom prst="rect">
            <a:avLst/>
          </a:prstGeom>
          <a:solidFill>
            <a:srgbClr val="4A6A9E"/>
          </a:solidFill>
          <a:ln w="12700">
            <a:solidFill>
              <a:srgbClr val="4A6A9E"/>
            </a:solidFill>
            <a:prstDash val="solid"/>
          </a:ln>
        </p:spPr>
        <p:txBody>
          <a:bodyPr/>
          <a:lstStyle/>
          <a:p>
            <a:endParaRPr lang="en-US"/>
          </a:p>
        </p:txBody>
      </p:sp>
      <p:sp>
        <p:nvSpPr>
          <p:cNvPr id="9" name="Text 6"/>
          <p:cNvSpPr/>
          <p:nvPr/>
        </p:nvSpPr>
        <p:spPr>
          <a:xfrm>
            <a:off x="503244" y="2813887"/>
            <a:ext cx="8229600" cy="292608"/>
          </a:xfrm>
          <a:prstGeom prst="rect">
            <a:avLst/>
          </a:prstGeom>
          <a:noFill/>
          <a:ln/>
        </p:spPr>
        <p:txBody>
          <a:bodyPr wrap="square" rtlCol="0" anchor="ctr"/>
          <a:lstStyle/>
          <a:p>
            <a:pPr marL="0" indent="0">
              <a:buNone/>
            </a:pPr>
            <a:r>
              <a:rPr lang="en-US" sz="1400" b="1" dirty="0">
                <a:solidFill>
                  <a:srgbClr val="1A1A2A"/>
                </a:solidFill>
                <a:latin typeface="Georgia" pitchFamily="34" charset="0"/>
                <a:ea typeface="Georgia" pitchFamily="34" charset="-122"/>
                <a:cs typeface="Georgia" pitchFamily="34" charset="-120"/>
              </a:rPr>
              <a:t>Rule 4 — Apostrophe to Separate 6th-Order + Vowel</a:t>
            </a:r>
            <a:endParaRPr lang="en-US" sz="1400" dirty="0"/>
          </a:p>
        </p:txBody>
      </p:sp>
      <p:sp>
        <p:nvSpPr>
          <p:cNvPr id="10" name="Text 7"/>
          <p:cNvSpPr/>
          <p:nvPr/>
        </p:nvSpPr>
        <p:spPr>
          <a:xfrm>
            <a:off x="503244" y="3070373"/>
            <a:ext cx="8229600" cy="411480"/>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Normally typing a vowel after a consonant creates a combined letter. To keep a bare consonant and a separate vowel apart, insert an apostrophe (') between them.</a:t>
            </a:r>
            <a:endParaRPr lang="en-US" sz="1200" dirty="0"/>
          </a:p>
        </p:txBody>
      </p:sp>
      <p:graphicFrame>
        <p:nvGraphicFramePr>
          <p:cNvPr id="13" name="Table 1"/>
          <p:cNvGraphicFramePr>
            <a:graphicFrameLocks noGrp="1"/>
          </p:cNvGraphicFramePr>
          <p:nvPr>
            <p:extLst>
              <p:ext uri="{D42A27DB-BD31-4B8C-83A1-F6EECF244321}">
                <p14:modId xmlns:p14="http://schemas.microsoft.com/office/powerpoint/2010/main" val="1856097482"/>
              </p:ext>
            </p:extLst>
          </p:nvPr>
        </p:nvGraphicFramePr>
        <p:xfrm>
          <a:off x="548640" y="3533280"/>
          <a:ext cx="8046720" cy="149352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25603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256032">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gebr'iel</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ገብርኤል</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"Gabriel"</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m'eeraf</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ምዕራፍ</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"Chapter / West"</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6032">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mel'ak</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መልአክ</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"Angel"</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k''</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ክ'</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Literal apostrophe — type '' (double apostrophe)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8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4A7A"/>
          </a:solidFill>
          <a:ln w="12700">
            <a:solidFill>
              <a:srgbClr val="1A4A7A"/>
            </a:solidFill>
            <a:prstDash val="solid"/>
          </a:ln>
        </p:spPr>
        <p:txBody>
          <a:bodyPr/>
          <a:lstStyle/>
          <a:p>
            <a:endParaRPr lang="en-US"/>
          </a:p>
        </p:txBody>
      </p:sp>
      <p:sp>
        <p:nvSpPr>
          <p:cNvPr id="3" name="Text 1"/>
          <p:cNvSpPr/>
          <p:nvPr/>
        </p:nvSpPr>
        <p:spPr>
          <a:xfrm>
            <a:off x="274320" y="0"/>
            <a:ext cx="8595360" cy="5943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3. Complete Letter Reference (1/7)</a:t>
            </a:r>
            <a:endParaRPr lang="en-US" sz="2200" dirty="0"/>
          </a:p>
        </p:txBody>
      </p:sp>
      <p:sp>
        <p:nvSpPr>
          <p:cNvPr id="5" name="Text 3"/>
          <p:cNvSpPr/>
          <p:nvPr/>
        </p:nvSpPr>
        <p:spPr>
          <a:xfrm>
            <a:off x="274323" y="604769"/>
            <a:ext cx="8595360" cy="256032"/>
          </a:xfrm>
          <a:prstGeom prst="rect">
            <a:avLst/>
          </a:prstGeom>
          <a:noFill/>
          <a:ln/>
        </p:spPr>
        <p:txBody>
          <a:bodyPr wrap="square" rtlCol="0" anchor="ctr"/>
          <a:lstStyle/>
          <a:p>
            <a:pPr marL="0" indent="0">
              <a:buNone/>
            </a:pPr>
            <a:r>
              <a:rPr lang="en-US" sz="1300" b="1" dirty="0">
                <a:solidFill>
                  <a:srgbClr val="1A4A7A"/>
                </a:solidFill>
                <a:latin typeface="Georgia" pitchFamily="34" charset="0"/>
                <a:ea typeface="Georgia" pitchFamily="34" charset="-122"/>
                <a:cs typeface="Georgia" pitchFamily="34" charset="-120"/>
              </a:rPr>
              <a:t>ሆይ (h)</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3961291184"/>
              </p:ext>
            </p:extLst>
          </p:nvPr>
        </p:nvGraphicFramePr>
        <p:xfrm>
          <a:off x="274320" y="877469"/>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ሀ</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ሁ</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ሂ</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ሃ</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ሄ</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ህ</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ሆ</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he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hu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hi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ha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hie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h</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ho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7" name="Text 4"/>
          <p:cNvSpPr/>
          <p:nvPr/>
        </p:nvSpPr>
        <p:spPr>
          <a:xfrm>
            <a:off x="274320" y="1737360"/>
            <a:ext cx="8595360" cy="256032"/>
          </a:xfrm>
          <a:prstGeom prst="rect">
            <a:avLst/>
          </a:prstGeom>
          <a:noFill/>
          <a:ln/>
        </p:spPr>
        <p:txBody>
          <a:bodyPr wrap="square" rtlCol="0" anchor="ctr"/>
          <a:lstStyle/>
          <a:p>
            <a:pPr marL="0" indent="0">
              <a:buNone/>
            </a:pPr>
            <a:r>
              <a:rPr lang="en-US" sz="1300" b="1" dirty="0">
                <a:solidFill>
                  <a:srgbClr val="1A4A7A"/>
                </a:solidFill>
                <a:latin typeface="Georgia" pitchFamily="34" charset="0"/>
                <a:ea typeface="Georgia" pitchFamily="34" charset="-122"/>
                <a:cs typeface="Georgia" pitchFamily="34" charset="-120"/>
              </a:rPr>
              <a:t>ላዊ (l)</a:t>
            </a:r>
            <a:endParaRPr lang="en-US" sz="13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274320" y="1993392"/>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ለ</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ሉ</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ሊ</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ላ</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ሌ</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ል</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ሎ</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le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lu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li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la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lie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l</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lo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9" name="Text 5"/>
          <p:cNvSpPr/>
          <p:nvPr/>
        </p:nvSpPr>
        <p:spPr>
          <a:xfrm>
            <a:off x="274320" y="2793750"/>
            <a:ext cx="8595360" cy="256032"/>
          </a:xfrm>
          <a:prstGeom prst="rect">
            <a:avLst/>
          </a:prstGeom>
          <a:noFill/>
          <a:ln/>
        </p:spPr>
        <p:txBody>
          <a:bodyPr wrap="square" rtlCol="0" anchor="ctr"/>
          <a:lstStyle/>
          <a:p>
            <a:pPr marL="0" indent="0">
              <a:buNone/>
            </a:pPr>
            <a:r>
              <a:rPr lang="en-US" sz="1300" b="1" dirty="0">
                <a:solidFill>
                  <a:srgbClr val="1A4A7A"/>
                </a:solidFill>
                <a:latin typeface="Georgia" pitchFamily="34" charset="0"/>
                <a:ea typeface="Georgia" pitchFamily="34" charset="-122"/>
                <a:cs typeface="Georgia" pitchFamily="34" charset="-120"/>
              </a:rPr>
              <a:t>ሐውት (H)</a:t>
            </a:r>
            <a:endParaRPr lang="en-US" sz="1300" dirty="0"/>
          </a:p>
        </p:txBody>
      </p:sp>
      <p:graphicFrame>
        <p:nvGraphicFramePr>
          <p:cNvPr id="22" name="Table 2"/>
          <p:cNvGraphicFramePr>
            <a:graphicFrameLocks noGrp="1"/>
          </p:cNvGraphicFramePr>
          <p:nvPr>
            <p:extLst>
              <p:ext uri="{D42A27DB-BD31-4B8C-83A1-F6EECF244321}">
                <p14:modId xmlns:p14="http://schemas.microsoft.com/office/powerpoint/2010/main" val="2001234017"/>
              </p:ext>
            </p:extLst>
          </p:nvPr>
        </p:nvGraphicFramePr>
        <p:xfrm>
          <a:off x="274320" y="3050853"/>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ሐ</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ሑ</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ሒ</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ሓ</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ሔ</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ሕ</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ሖ</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He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Hu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Hi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Ha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Hie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H</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Ho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1" name="Text 6"/>
          <p:cNvSpPr/>
          <p:nvPr/>
        </p:nvSpPr>
        <p:spPr>
          <a:xfrm>
            <a:off x="274320" y="3894079"/>
            <a:ext cx="8595360" cy="256032"/>
          </a:xfrm>
          <a:prstGeom prst="rect">
            <a:avLst/>
          </a:prstGeom>
          <a:noFill/>
          <a:ln/>
        </p:spPr>
        <p:txBody>
          <a:bodyPr wrap="square" rtlCol="0" anchor="ctr"/>
          <a:lstStyle/>
          <a:p>
            <a:pPr marL="0" indent="0">
              <a:buNone/>
            </a:pPr>
            <a:r>
              <a:rPr lang="en-US" sz="1300" b="1" dirty="0">
                <a:solidFill>
                  <a:srgbClr val="1A4A7A"/>
                </a:solidFill>
                <a:latin typeface="Georgia" pitchFamily="34" charset="0"/>
                <a:ea typeface="Georgia" pitchFamily="34" charset="-122"/>
                <a:cs typeface="Georgia" pitchFamily="34" charset="-120"/>
              </a:rPr>
              <a:t>ማይ (m)</a:t>
            </a:r>
            <a:endParaRPr lang="en-US" sz="1300" dirty="0"/>
          </a:p>
        </p:txBody>
      </p:sp>
      <p:graphicFrame>
        <p:nvGraphicFramePr>
          <p:cNvPr id="29" name="Table 3"/>
          <p:cNvGraphicFramePr>
            <a:graphicFrameLocks noGrp="1"/>
          </p:cNvGraphicFramePr>
          <p:nvPr>
            <p:extLst>
              <p:ext uri="{D42A27DB-BD31-4B8C-83A1-F6EECF244321}">
                <p14:modId xmlns:p14="http://schemas.microsoft.com/office/powerpoint/2010/main" val="3406138148"/>
              </p:ext>
            </p:extLst>
          </p:nvPr>
        </p:nvGraphicFramePr>
        <p:xfrm>
          <a:off x="274317" y="4160520"/>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መ</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ሙ</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ሚ</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ማ</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ሜ</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ም</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ሞ</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me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mu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mi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ma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mie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m</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mo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8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4A7A"/>
          </a:solidFill>
          <a:ln w="12700">
            <a:solidFill>
              <a:srgbClr val="1A4A7A"/>
            </a:solidFill>
            <a:prstDash val="solid"/>
          </a:ln>
        </p:spPr>
        <p:txBody>
          <a:bodyPr/>
          <a:lstStyle/>
          <a:p>
            <a:endParaRPr lang="en-US"/>
          </a:p>
        </p:txBody>
      </p:sp>
      <p:sp>
        <p:nvSpPr>
          <p:cNvPr id="3" name="Text 1"/>
          <p:cNvSpPr/>
          <p:nvPr/>
        </p:nvSpPr>
        <p:spPr>
          <a:xfrm>
            <a:off x="274320" y="0"/>
            <a:ext cx="8595360" cy="5943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3. Complete Letter Reference (2/7)</a:t>
            </a:r>
            <a:endParaRPr lang="en-US" sz="2200" dirty="0"/>
          </a:p>
        </p:txBody>
      </p:sp>
      <p:sp>
        <p:nvSpPr>
          <p:cNvPr id="5" name="Text 3"/>
          <p:cNvSpPr/>
          <p:nvPr/>
        </p:nvSpPr>
        <p:spPr>
          <a:xfrm>
            <a:off x="274323" y="596954"/>
            <a:ext cx="8595360" cy="256032"/>
          </a:xfrm>
          <a:prstGeom prst="rect">
            <a:avLst/>
          </a:prstGeom>
          <a:noFill/>
          <a:ln/>
        </p:spPr>
        <p:txBody>
          <a:bodyPr wrap="square" rtlCol="0" anchor="ctr"/>
          <a:lstStyle/>
          <a:p>
            <a:pPr marL="0" indent="0">
              <a:buNone/>
            </a:pPr>
            <a:r>
              <a:rPr lang="en-US" sz="1300" b="1" dirty="0">
                <a:solidFill>
                  <a:srgbClr val="1A4A7A"/>
                </a:solidFill>
                <a:latin typeface="Georgia" pitchFamily="34" charset="0"/>
                <a:ea typeface="Georgia" pitchFamily="34" charset="-122"/>
                <a:cs typeface="Georgia" pitchFamily="34" charset="-120"/>
              </a:rPr>
              <a:t>ርእስ (r)</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665469359"/>
              </p:ext>
            </p:extLst>
          </p:nvPr>
        </p:nvGraphicFramePr>
        <p:xfrm>
          <a:off x="274320" y="884212"/>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ረ</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ሩ</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ሪ</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ራ</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ሬ</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ር</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ሮ</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re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ru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ri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ra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rie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r</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ro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7" name="Text 4"/>
          <p:cNvSpPr/>
          <p:nvPr/>
        </p:nvSpPr>
        <p:spPr>
          <a:xfrm>
            <a:off x="274320" y="1737360"/>
            <a:ext cx="8595360" cy="256032"/>
          </a:xfrm>
          <a:prstGeom prst="rect">
            <a:avLst/>
          </a:prstGeom>
          <a:noFill/>
          <a:ln/>
        </p:spPr>
        <p:txBody>
          <a:bodyPr wrap="square" rtlCol="0" anchor="ctr"/>
          <a:lstStyle/>
          <a:p>
            <a:pPr marL="0" indent="0">
              <a:buNone/>
            </a:pPr>
            <a:r>
              <a:rPr lang="en-US" sz="1300" b="1" dirty="0">
                <a:solidFill>
                  <a:srgbClr val="1A4A7A"/>
                </a:solidFill>
                <a:latin typeface="Georgia" pitchFamily="34" charset="0"/>
                <a:ea typeface="Georgia" pitchFamily="34" charset="-122"/>
                <a:cs typeface="Georgia" pitchFamily="34" charset="-120"/>
              </a:rPr>
              <a:t>ሳት (s)</a:t>
            </a:r>
            <a:endParaRPr lang="en-US" sz="13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274320" y="1993392"/>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ሰ</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ሱ</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ሲ</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ሳ</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ሴ</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ስ</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ሶ</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se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su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si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sa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sie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s</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so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6" name="Text 5"/>
          <p:cNvSpPr/>
          <p:nvPr/>
        </p:nvSpPr>
        <p:spPr>
          <a:xfrm>
            <a:off x="274317" y="2830814"/>
            <a:ext cx="8595360" cy="256032"/>
          </a:xfrm>
          <a:prstGeom prst="rect">
            <a:avLst/>
          </a:prstGeom>
          <a:noFill/>
          <a:ln/>
        </p:spPr>
        <p:txBody>
          <a:bodyPr wrap="square" rtlCol="0" anchor="ctr"/>
          <a:lstStyle/>
          <a:p>
            <a:pPr marL="0" indent="0">
              <a:buNone/>
            </a:pPr>
            <a:r>
              <a:rPr lang="en-US" sz="1300" b="1" dirty="0">
                <a:solidFill>
                  <a:srgbClr val="1A4A7A"/>
                </a:solidFill>
                <a:latin typeface="Georgia" pitchFamily="34" charset="0"/>
                <a:ea typeface="Georgia" pitchFamily="34" charset="-122"/>
                <a:cs typeface="Georgia" pitchFamily="34" charset="-120"/>
              </a:rPr>
              <a:t>ሻ-ሳት (x)</a:t>
            </a:r>
            <a:endParaRPr lang="en-US" sz="1300" dirty="0"/>
          </a:p>
        </p:txBody>
      </p:sp>
      <p:graphicFrame>
        <p:nvGraphicFramePr>
          <p:cNvPr id="25" name="Table 2"/>
          <p:cNvGraphicFramePr>
            <a:graphicFrameLocks noGrp="1"/>
          </p:cNvGraphicFramePr>
          <p:nvPr>
            <p:extLst>
              <p:ext uri="{D42A27DB-BD31-4B8C-83A1-F6EECF244321}">
                <p14:modId xmlns:p14="http://schemas.microsoft.com/office/powerpoint/2010/main" val="1729368464"/>
              </p:ext>
            </p:extLst>
          </p:nvPr>
        </p:nvGraphicFramePr>
        <p:xfrm>
          <a:off x="274320" y="3078156"/>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ሸ</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ሹ</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ሺ</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ሻ</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ሼ</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ሽ</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ሾ</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xe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xu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xi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xa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xie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x</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xo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1" name="Text 6"/>
          <p:cNvSpPr/>
          <p:nvPr/>
        </p:nvSpPr>
        <p:spPr>
          <a:xfrm>
            <a:off x="274317" y="3904488"/>
            <a:ext cx="8595360" cy="256032"/>
          </a:xfrm>
          <a:prstGeom prst="rect">
            <a:avLst/>
          </a:prstGeom>
          <a:noFill/>
          <a:ln/>
        </p:spPr>
        <p:txBody>
          <a:bodyPr wrap="square" rtlCol="0" anchor="ctr"/>
          <a:lstStyle/>
          <a:p>
            <a:pPr marL="0" indent="0">
              <a:buNone/>
            </a:pPr>
            <a:r>
              <a:rPr lang="en-US" sz="1300" b="1" dirty="0">
                <a:solidFill>
                  <a:srgbClr val="1A4A7A"/>
                </a:solidFill>
                <a:latin typeface="Georgia" pitchFamily="34" charset="0"/>
                <a:ea typeface="Georgia" pitchFamily="34" charset="-122"/>
                <a:cs typeface="Georgia" pitchFamily="34" charset="-120"/>
              </a:rPr>
              <a:t>ቃፍ (q)</a:t>
            </a:r>
            <a:endParaRPr lang="en-US" sz="1300" dirty="0"/>
          </a:p>
        </p:txBody>
      </p:sp>
      <p:graphicFrame>
        <p:nvGraphicFramePr>
          <p:cNvPr id="33" name="Table 3"/>
          <p:cNvGraphicFramePr>
            <a:graphicFrameLocks noGrp="1"/>
          </p:cNvGraphicFramePr>
          <p:nvPr>
            <p:extLst>
              <p:ext uri="{D42A27DB-BD31-4B8C-83A1-F6EECF244321}">
                <p14:modId xmlns:p14="http://schemas.microsoft.com/office/powerpoint/2010/main" val="1332488745"/>
              </p:ext>
            </p:extLst>
          </p:nvPr>
        </p:nvGraphicFramePr>
        <p:xfrm>
          <a:off x="274317" y="4160520"/>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ቀ</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ቁ</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ቂ</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ቃ</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ቄ</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ቅ</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ቆ</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qe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qu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qi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qa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qie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q</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qo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8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4A7A"/>
          </a:solidFill>
          <a:ln w="12700">
            <a:solidFill>
              <a:srgbClr val="1A4A7A"/>
            </a:solidFill>
            <a:prstDash val="solid"/>
          </a:ln>
        </p:spPr>
        <p:txBody>
          <a:bodyPr/>
          <a:lstStyle/>
          <a:p>
            <a:endParaRPr lang="en-US"/>
          </a:p>
        </p:txBody>
      </p:sp>
      <p:sp>
        <p:nvSpPr>
          <p:cNvPr id="3" name="Text 1"/>
          <p:cNvSpPr/>
          <p:nvPr/>
        </p:nvSpPr>
        <p:spPr>
          <a:xfrm>
            <a:off x="274320" y="0"/>
            <a:ext cx="8595360" cy="5943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3. Complete Letter Reference (3/7)</a:t>
            </a:r>
            <a:endParaRPr lang="en-US" sz="2200" dirty="0"/>
          </a:p>
        </p:txBody>
      </p:sp>
      <p:sp>
        <p:nvSpPr>
          <p:cNvPr id="5" name="Text 3"/>
          <p:cNvSpPr/>
          <p:nvPr/>
        </p:nvSpPr>
        <p:spPr>
          <a:xfrm>
            <a:off x="274323" y="594360"/>
            <a:ext cx="8595360" cy="256032"/>
          </a:xfrm>
          <a:prstGeom prst="rect">
            <a:avLst/>
          </a:prstGeom>
          <a:noFill/>
          <a:ln/>
        </p:spPr>
        <p:txBody>
          <a:bodyPr wrap="square" rtlCol="0" anchor="ctr"/>
          <a:lstStyle/>
          <a:p>
            <a:pPr marL="0" indent="0">
              <a:buNone/>
            </a:pPr>
            <a:r>
              <a:rPr lang="en-US" sz="1300" b="1" dirty="0">
                <a:solidFill>
                  <a:srgbClr val="1A4A7A"/>
                </a:solidFill>
                <a:latin typeface="Georgia" pitchFamily="34" charset="0"/>
                <a:ea typeface="Georgia" pitchFamily="34" charset="-122"/>
                <a:cs typeface="Georgia" pitchFamily="34" charset="-120"/>
              </a:rPr>
              <a:t>ቬ-ቤት (v)</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772284545"/>
              </p:ext>
            </p:extLst>
          </p:nvPr>
        </p:nvGraphicFramePr>
        <p:xfrm>
          <a:off x="274323" y="882396"/>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ቨ</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ቩ</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ቪ</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ቫ</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ቬ</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ቭ</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ቮ</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ve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vu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vi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va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vie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v</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vo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7" name="Text 4"/>
          <p:cNvSpPr/>
          <p:nvPr/>
        </p:nvSpPr>
        <p:spPr>
          <a:xfrm>
            <a:off x="274320" y="1737360"/>
            <a:ext cx="8595360" cy="256032"/>
          </a:xfrm>
          <a:prstGeom prst="rect">
            <a:avLst/>
          </a:prstGeom>
          <a:noFill/>
          <a:ln/>
        </p:spPr>
        <p:txBody>
          <a:bodyPr wrap="square" rtlCol="0" anchor="ctr"/>
          <a:lstStyle/>
          <a:p>
            <a:pPr marL="0" indent="0">
              <a:buNone/>
            </a:pPr>
            <a:r>
              <a:rPr lang="en-US" sz="1300" b="1" dirty="0">
                <a:solidFill>
                  <a:srgbClr val="1A4A7A"/>
                </a:solidFill>
                <a:latin typeface="Georgia" pitchFamily="34" charset="0"/>
                <a:ea typeface="Georgia" pitchFamily="34" charset="-122"/>
                <a:cs typeface="Georgia" pitchFamily="34" charset="-120"/>
              </a:rPr>
              <a:t>ታው (t)</a:t>
            </a:r>
            <a:endParaRPr lang="en-US" sz="1300" dirty="0"/>
          </a:p>
        </p:txBody>
      </p:sp>
      <p:graphicFrame>
        <p:nvGraphicFramePr>
          <p:cNvPr id="19" name="Table 1"/>
          <p:cNvGraphicFramePr>
            <a:graphicFrameLocks noGrp="1"/>
          </p:cNvGraphicFramePr>
          <p:nvPr>
            <p:extLst>
              <p:ext uri="{D42A27DB-BD31-4B8C-83A1-F6EECF244321}">
                <p14:modId xmlns:p14="http://schemas.microsoft.com/office/powerpoint/2010/main" val="3269398125"/>
              </p:ext>
            </p:extLst>
          </p:nvPr>
        </p:nvGraphicFramePr>
        <p:xfrm>
          <a:off x="274323" y="2038486"/>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ተ</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ቱ</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ቲ</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ታ</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ቴ</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ት</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ቶ</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te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tu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ti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ta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tie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t</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to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9" name="Text 5"/>
          <p:cNvSpPr/>
          <p:nvPr/>
        </p:nvSpPr>
        <p:spPr>
          <a:xfrm>
            <a:off x="274320" y="2867390"/>
            <a:ext cx="8595360" cy="256032"/>
          </a:xfrm>
          <a:prstGeom prst="rect">
            <a:avLst/>
          </a:prstGeom>
          <a:noFill/>
          <a:ln/>
        </p:spPr>
        <p:txBody>
          <a:bodyPr wrap="square" rtlCol="0" anchor="ctr"/>
          <a:lstStyle/>
          <a:p>
            <a:pPr marL="0" indent="0">
              <a:buNone/>
            </a:pPr>
            <a:r>
              <a:rPr lang="en-US" sz="1300" b="1" dirty="0">
                <a:solidFill>
                  <a:srgbClr val="1A4A7A"/>
                </a:solidFill>
                <a:latin typeface="Georgia" pitchFamily="34" charset="0"/>
                <a:ea typeface="Georgia" pitchFamily="34" charset="-122"/>
                <a:cs typeface="Georgia" pitchFamily="34" charset="-120"/>
              </a:rPr>
              <a:t>ቻ-ታው (c)</a:t>
            </a:r>
            <a:endParaRPr lang="en-US" sz="1300" dirty="0"/>
          </a:p>
        </p:txBody>
      </p:sp>
      <p:graphicFrame>
        <p:nvGraphicFramePr>
          <p:cNvPr id="28" name="Table 2"/>
          <p:cNvGraphicFramePr>
            <a:graphicFrameLocks noGrp="1"/>
          </p:cNvGraphicFramePr>
          <p:nvPr>
            <p:extLst>
              <p:ext uri="{D42A27DB-BD31-4B8C-83A1-F6EECF244321}">
                <p14:modId xmlns:p14="http://schemas.microsoft.com/office/powerpoint/2010/main" val="4249273856"/>
              </p:ext>
            </p:extLst>
          </p:nvPr>
        </p:nvGraphicFramePr>
        <p:xfrm>
          <a:off x="274320" y="3126535"/>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ቸ</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ቹ</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ቺ</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ቻ</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ቼ</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ች</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ቾ</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ce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cu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ci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ca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cie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c</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co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1" name="Text 6"/>
          <p:cNvSpPr/>
          <p:nvPr/>
        </p:nvSpPr>
        <p:spPr>
          <a:xfrm>
            <a:off x="274317" y="3961384"/>
            <a:ext cx="8595360" cy="256032"/>
          </a:xfrm>
          <a:prstGeom prst="rect">
            <a:avLst/>
          </a:prstGeom>
          <a:noFill/>
          <a:ln/>
        </p:spPr>
        <p:txBody>
          <a:bodyPr wrap="square" rtlCol="0" anchor="ctr"/>
          <a:lstStyle/>
          <a:p>
            <a:pPr marL="0" indent="0">
              <a:buNone/>
            </a:pPr>
            <a:r>
              <a:rPr lang="en-US" sz="1300" b="1" dirty="0">
                <a:solidFill>
                  <a:srgbClr val="1A4A7A"/>
                </a:solidFill>
                <a:latin typeface="Georgia" pitchFamily="34" charset="0"/>
                <a:ea typeface="Georgia" pitchFamily="34" charset="-122"/>
                <a:cs typeface="Georgia" pitchFamily="34" charset="-120"/>
              </a:rPr>
              <a:t>ኀርም (hh)</a:t>
            </a:r>
            <a:endParaRPr lang="en-US" sz="1300" dirty="0"/>
          </a:p>
        </p:txBody>
      </p:sp>
      <p:graphicFrame>
        <p:nvGraphicFramePr>
          <p:cNvPr id="37" name="Table 3"/>
          <p:cNvGraphicFramePr>
            <a:graphicFrameLocks noGrp="1"/>
          </p:cNvGraphicFramePr>
          <p:nvPr>
            <p:extLst>
              <p:ext uri="{D42A27DB-BD31-4B8C-83A1-F6EECF244321}">
                <p14:modId xmlns:p14="http://schemas.microsoft.com/office/powerpoint/2010/main" val="299392484"/>
              </p:ext>
            </p:extLst>
          </p:nvPr>
        </p:nvGraphicFramePr>
        <p:xfrm>
          <a:off x="274320" y="4217416"/>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ኀ</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ኁ</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ኂ</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ኃ</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ኄ</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ኅ</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ኆ</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hhe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hhu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hhi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hha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hhie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hh</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hho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8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4A7A"/>
          </a:solidFill>
          <a:ln w="12700">
            <a:solidFill>
              <a:srgbClr val="1A4A7A"/>
            </a:solidFill>
            <a:prstDash val="solid"/>
          </a:ln>
        </p:spPr>
        <p:txBody>
          <a:bodyPr/>
          <a:lstStyle/>
          <a:p>
            <a:endParaRPr lang="en-US"/>
          </a:p>
        </p:txBody>
      </p:sp>
      <p:sp>
        <p:nvSpPr>
          <p:cNvPr id="3" name="Text 1"/>
          <p:cNvSpPr/>
          <p:nvPr/>
        </p:nvSpPr>
        <p:spPr>
          <a:xfrm>
            <a:off x="274320" y="0"/>
            <a:ext cx="8595360" cy="5943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3. Complete Letter Reference (4/7)</a:t>
            </a:r>
            <a:endParaRPr lang="en-US" sz="2200" dirty="0"/>
          </a:p>
        </p:txBody>
      </p:sp>
      <p:sp>
        <p:nvSpPr>
          <p:cNvPr id="5" name="Text 3"/>
          <p:cNvSpPr/>
          <p:nvPr/>
        </p:nvSpPr>
        <p:spPr>
          <a:xfrm>
            <a:off x="274320" y="587502"/>
            <a:ext cx="8595360" cy="256032"/>
          </a:xfrm>
          <a:prstGeom prst="rect">
            <a:avLst/>
          </a:prstGeom>
          <a:noFill/>
          <a:ln/>
        </p:spPr>
        <p:txBody>
          <a:bodyPr wrap="square" rtlCol="0" anchor="ctr"/>
          <a:lstStyle/>
          <a:p>
            <a:pPr marL="0" indent="0">
              <a:buNone/>
            </a:pPr>
            <a:r>
              <a:rPr lang="en-US" sz="1300" b="1" dirty="0">
                <a:solidFill>
                  <a:srgbClr val="1A4A7A"/>
                </a:solidFill>
                <a:latin typeface="Georgia" pitchFamily="34" charset="0"/>
                <a:ea typeface="Georgia" pitchFamily="34" charset="-122"/>
                <a:cs typeface="Georgia" pitchFamily="34" charset="-120"/>
              </a:rPr>
              <a:t>ኛ-ነሐስ (N)</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4057031312"/>
              </p:ext>
            </p:extLst>
          </p:nvPr>
        </p:nvGraphicFramePr>
        <p:xfrm>
          <a:off x="274320" y="843534"/>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ኘ</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ኙ</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ኚ</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ኛ</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ኜ</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ኝ</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ኞ</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Ne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Nu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Ni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Na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Nie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N</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No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7" name="Text 4"/>
          <p:cNvSpPr/>
          <p:nvPr/>
        </p:nvSpPr>
        <p:spPr>
          <a:xfrm>
            <a:off x="274320" y="1674495"/>
            <a:ext cx="8595360" cy="256032"/>
          </a:xfrm>
          <a:prstGeom prst="rect">
            <a:avLst/>
          </a:prstGeom>
          <a:noFill/>
          <a:ln/>
        </p:spPr>
        <p:txBody>
          <a:bodyPr wrap="square" rtlCol="0" anchor="ctr"/>
          <a:lstStyle/>
          <a:p>
            <a:pPr marL="0" indent="0">
              <a:buNone/>
            </a:pPr>
            <a:r>
              <a:rPr lang="en-US" sz="1300" b="1" dirty="0">
                <a:solidFill>
                  <a:srgbClr val="1A4A7A"/>
                </a:solidFill>
                <a:latin typeface="Georgia" pitchFamily="34" charset="0"/>
                <a:ea typeface="Georgia" pitchFamily="34" charset="-122"/>
                <a:cs typeface="Georgia" pitchFamily="34" charset="-120"/>
              </a:rPr>
              <a:t>አልፍ (a)</a:t>
            </a:r>
            <a:endParaRPr lang="en-US" sz="1300" dirty="0"/>
          </a:p>
        </p:txBody>
      </p:sp>
      <p:graphicFrame>
        <p:nvGraphicFramePr>
          <p:cNvPr id="21" name="Table 1"/>
          <p:cNvGraphicFramePr>
            <a:graphicFrameLocks noGrp="1"/>
          </p:cNvGraphicFramePr>
          <p:nvPr>
            <p:extLst>
              <p:ext uri="{D42A27DB-BD31-4B8C-83A1-F6EECF244321}">
                <p14:modId xmlns:p14="http://schemas.microsoft.com/office/powerpoint/2010/main" val="798967555"/>
              </p:ext>
            </p:extLst>
          </p:nvPr>
        </p:nvGraphicFramePr>
        <p:xfrm>
          <a:off x="274320" y="1941386"/>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አ</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ኡ</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ኢ</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ኣ</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ኤ</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እ</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ኦ</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aaaa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9" name="Text 5"/>
          <p:cNvSpPr/>
          <p:nvPr/>
        </p:nvSpPr>
        <p:spPr>
          <a:xfrm>
            <a:off x="274320" y="2743200"/>
            <a:ext cx="8595360" cy="256032"/>
          </a:xfrm>
          <a:prstGeom prst="rect">
            <a:avLst/>
          </a:prstGeom>
          <a:noFill/>
          <a:ln/>
        </p:spPr>
        <p:txBody>
          <a:bodyPr wrap="square" rtlCol="0" anchor="ctr"/>
          <a:lstStyle/>
          <a:p>
            <a:pPr marL="0" indent="0">
              <a:buNone/>
            </a:pPr>
            <a:r>
              <a:rPr lang="en-US" sz="1300" b="1" dirty="0">
                <a:solidFill>
                  <a:srgbClr val="1A4A7A"/>
                </a:solidFill>
                <a:latin typeface="Georgia" pitchFamily="34" charset="0"/>
                <a:ea typeface="Georgia" pitchFamily="34" charset="-122"/>
                <a:cs typeface="Georgia" pitchFamily="34" charset="-120"/>
              </a:rPr>
              <a:t>ካፍ (k)</a:t>
            </a:r>
            <a:endParaRPr lang="en-US" sz="1300" dirty="0"/>
          </a:p>
        </p:txBody>
      </p:sp>
      <p:graphicFrame>
        <p:nvGraphicFramePr>
          <p:cNvPr id="31" name="Table 2"/>
          <p:cNvGraphicFramePr>
            <a:graphicFrameLocks noGrp="1"/>
          </p:cNvGraphicFramePr>
          <p:nvPr>
            <p:extLst>
              <p:ext uri="{D42A27DB-BD31-4B8C-83A1-F6EECF244321}">
                <p14:modId xmlns:p14="http://schemas.microsoft.com/office/powerpoint/2010/main" val="1799622619"/>
              </p:ext>
            </p:extLst>
          </p:nvPr>
        </p:nvGraphicFramePr>
        <p:xfrm>
          <a:off x="274320" y="3015234"/>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ከ</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ኩ</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ኪ</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ካ</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ኬ</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ክ</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ኮ</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ke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ku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ki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ka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kie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k</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ko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6" name="Text 6"/>
          <p:cNvSpPr/>
          <p:nvPr/>
        </p:nvSpPr>
        <p:spPr>
          <a:xfrm>
            <a:off x="274320" y="3854196"/>
            <a:ext cx="8595360" cy="256032"/>
          </a:xfrm>
          <a:prstGeom prst="rect">
            <a:avLst/>
          </a:prstGeom>
          <a:noFill/>
          <a:ln/>
        </p:spPr>
        <p:txBody>
          <a:bodyPr wrap="square" rtlCol="0" anchor="ctr"/>
          <a:lstStyle/>
          <a:p>
            <a:pPr marL="0" indent="0">
              <a:buNone/>
            </a:pPr>
            <a:r>
              <a:rPr lang="en-US" sz="1300" b="1" dirty="0">
                <a:solidFill>
                  <a:srgbClr val="1A4A7A"/>
                </a:solidFill>
                <a:latin typeface="Georgia" pitchFamily="34" charset="0"/>
                <a:ea typeface="Georgia" pitchFamily="34" charset="-122"/>
                <a:cs typeface="Georgia" pitchFamily="34" charset="-120"/>
              </a:rPr>
              <a:t>ኻ-ካፍ (K)</a:t>
            </a:r>
            <a:endParaRPr lang="en-US" sz="1300" dirty="0"/>
          </a:p>
        </p:txBody>
      </p:sp>
      <p:graphicFrame>
        <p:nvGraphicFramePr>
          <p:cNvPr id="41" name="Table 3"/>
          <p:cNvGraphicFramePr>
            <a:graphicFrameLocks noGrp="1"/>
          </p:cNvGraphicFramePr>
          <p:nvPr>
            <p:extLst>
              <p:ext uri="{D42A27DB-BD31-4B8C-83A1-F6EECF244321}">
                <p14:modId xmlns:p14="http://schemas.microsoft.com/office/powerpoint/2010/main" val="521936191"/>
              </p:ext>
            </p:extLst>
          </p:nvPr>
        </p:nvGraphicFramePr>
        <p:xfrm>
          <a:off x="274317" y="4110228"/>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ኸ</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ኹ</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ኺ</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ኻ</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ኼ</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ኽ</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ኾ</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Ke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Ku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Ki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Ka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Kie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K</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Ko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8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4A7A"/>
          </a:solidFill>
          <a:ln w="12700">
            <a:solidFill>
              <a:srgbClr val="1A4A7A"/>
            </a:solidFill>
            <a:prstDash val="solid"/>
          </a:ln>
        </p:spPr>
        <p:txBody>
          <a:bodyPr/>
          <a:lstStyle/>
          <a:p>
            <a:endParaRPr lang="en-US"/>
          </a:p>
        </p:txBody>
      </p:sp>
      <p:sp>
        <p:nvSpPr>
          <p:cNvPr id="3" name="Text 1"/>
          <p:cNvSpPr/>
          <p:nvPr/>
        </p:nvSpPr>
        <p:spPr>
          <a:xfrm>
            <a:off x="274320" y="0"/>
            <a:ext cx="8595360" cy="5943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3. Complete Letter Reference (5/7)</a:t>
            </a:r>
            <a:endParaRPr lang="en-US" sz="2200" dirty="0"/>
          </a:p>
        </p:txBody>
      </p:sp>
      <p:sp>
        <p:nvSpPr>
          <p:cNvPr id="5" name="Text 3"/>
          <p:cNvSpPr/>
          <p:nvPr/>
        </p:nvSpPr>
        <p:spPr>
          <a:xfrm>
            <a:off x="274320" y="611870"/>
            <a:ext cx="8595360" cy="256032"/>
          </a:xfrm>
          <a:prstGeom prst="rect">
            <a:avLst/>
          </a:prstGeom>
          <a:noFill/>
          <a:ln/>
        </p:spPr>
        <p:txBody>
          <a:bodyPr wrap="square" rtlCol="0" anchor="ctr"/>
          <a:lstStyle/>
          <a:p>
            <a:pPr marL="0" indent="0">
              <a:buNone/>
            </a:pPr>
            <a:r>
              <a:rPr lang="en-US" sz="1300" b="1" dirty="0">
                <a:solidFill>
                  <a:srgbClr val="1A4A7A"/>
                </a:solidFill>
                <a:latin typeface="Georgia" pitchFamily="34" charset="0"/>
                <a:ea typeface="Georgia" pitchFamily="34" charset="-122"/>
                <a:cs typeface="Georgia" pitchFamily="34" charset="-120"/>
              </a:rPr>
              <a:t>ዐይን (aa)</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2012614040"/>
              </p:ext>
            </p:extLst>
          </p:nvPr>
        </p:nvGraphicFramePr>
        <p:xfrm>
          <a:off x="274320" y="891151"/>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ዐ</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ዑ</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ዒ</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ዓ</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ዔ</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ዕ</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ዖ</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aaa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uu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ii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aa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iie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ee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oo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7" name="Text 4"/>
          <p:cNvSpPr/>
          <p:nvPr/>
        </p:nvSpPr>
        <p:spPr>
          <a:xfrm>
            <a:off x="274320" y="1737360"/>
            <a:ext cx="8595360" cy="256032"/>
          </a:xfrm>
          <a:prstGeom prst="rect">
            <a:avLst/>
          </a:prstGeom>
          <a:noFill/>
          <a:ln/>
        </p:spPr>
        <p:txBody>
          <a:bodyPr wrap="square" rtlCol="0" anchor="ctr"/>
          <a:lstStyle/>
          <a:p>
            <a:pPr marL="0" indent="0">
              <a:buNone/>
            </a:pPr>
            <a:r>
              <a:rPr lang="en-US" sz="1300" b="1" dirty="0">
                <a:solidFill>
                  <a:srgbClr val="1A4A7A"/>
                </a:solidFill>
                <a:latin typeface="Georgia" pitchFamily="34" charset="0"/>
                <a:ea typeface="Georgia" pitchFamily="34" charset="-122"/>
                <a:cs typeface="Georgia" pitchFamily="34" charset="-120"/>
              </a:rPr>
              <a:t>ዘይ (z)</a:t>
            </a:r>
            <a:endParaRPr lang="en-US" sz="13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274320" y="1993392"/>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ዘ</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ዙ</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ዚ</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ዛ</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ዜ</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ዝ</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ዞ</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ze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zu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zi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za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zie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z</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zo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9" name="Text 5"/>
          <p:cNvSpPr/>
          <p:nvPr/>
        </p:nvSpPr>
        <p:spPr>
          <a:xfrm>
            <a:off x="274320" y="2816352"/>
            <a:ext cx="8595360" cy="256032"/>
          </a:xfrm>
          <a:prstGeom prst="rect">
            <a:avLst/>
          </a:prstGeom>
          <a:noFill/>
          <a:ln/>
        </p:spPr>
        <p:txBody>
          <a:bodyPr wrap="square" rtlCol="0" anchor="ctr"/>
          <a:lstStyle/>
          <a:p>
            <a:pPr marL="0" indent="0">
              <a:buNone/>
            </a:pPr>
            <a:r>
              <a:rPr lang="en-US" sz="1300" b="1" dirty="0">
                <a:solidFill>
                  <a:srgbClr val="1A4A7A"/>
                </a:solidFill>
                <a:latin typeface="Georgia" pitchFamily="34" charset="0"/>
                <a:ea typeface="Georgia" pitchFamily="34" charset="-122"/>
                <a:cs typeface="Georgia" pitchFamily="34" charset="-120"/>
              </a:rPr>
              <a:t>ዠ-ዘይ (Z)</a:t>
            </a:r>
            <a:endParaRPr lang="en-US" sz="1300" dirty="0"/>
          </a:p>
        </p:txBody>
      </p:sp>
      <p:graphicFrame>
        <p:nvGraphicFramePr>
          <p:cNvPr id="34" name="Table 2"/>
          <p:cNvGraphicFramePr>
            <a:graphicFrameLocks noGrp="1"/>
          </p:cNvGraphicFramePr>
          <p:nvPr>
            <p:extLst>
              <p:ext uri="{D42A27DB-BD31-4B8C-83A1-F6EECF244321}">
                <p14:modId xmlns:p14="http://schemas.microsoft.com/office/powerpoint/2010/main" val="3071641673"/>
              </p:ext>
            </p:extLst>
          </p:nvPr>
        </p:nvGraphicFramePr>
        <p:xfrm>
          <a:off x="274320" y="3076956"/>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ዠ</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ዡ</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ዢ</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ዣ</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ዤ</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ዥ</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ዦ</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Ze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Zu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Zi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Za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Zie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Z</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Zo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1" name="Text 6"/>
          <p:cNvSpPr/>
          <p:nvPr/>
        </p:nvSpPr>
        <p:spPr>
          <a:xfrm>
            <a:off x="274320" y="3899916"/>
            <a:ext cx="8595360" cy="256032"/>
          </a:xfrm>
          <a:prstGeom prst="rect">
            <a:avLst/>
          </a:prstGeom>
          <a:noFill/>
          <a:ln/>
        </p:spPr>
        <p:txBody>
          <a:bodyPr wrap="square" rtlCol="0" anchor="ctr"/>
          <a:lstStyle/>
          <a:p>
            <a:pPr marL="0" indent="0">
              <a:buNone/>
            </a:pPr>
            <a:r>
              <a:rPr lang="en-US" sz="1300" b="1" dirty="0">
                <a:solidFill>
                  <a:srgbClr val="1A4A7A"/>
                </a:solidFill>
                <a:latin typeface="Georgia" pitchFamily="34" charset="0"/>
                <a:ea typeface="Georgia" pitchFamily="34" charset="-122"/>
                <a:cs typeface="Georgia" pitchFamily="34" charset="-120"/>
              </a:rPr>
              <a:t>የመነ (y)</a:t>
            </a:r>
            <a:endParaRPr lang="en-US" sz="1300" dirty="0"/>
          </a:p>
        </p:txBody>
      </p:sp>
      <p:graphicFrame>
        <p:nvGraphicFramePr>
          <p:cNvPr id="45" name="Table 3"/>
          <p:cNvGraphicFramePr>
            <a:graphicFrameLocks noGrp="1"/>
          </p:cNvGraphicFramePr>
          <p:nvPr>
            <p:extLst>
              <p:ext uri="{D42A27DB-BD31-4B8C-83A1-F6EECF244321}">
                <p14:modId xmlns:p14="http://schemas.microsoft.com/office/powerpoint/2010/main" val="1657203073"/>
              </p:ext>
            </p:extLst>
          </p:nvPr>
        </p:nvGraphicFramePr>
        <p:xfrm>
          <a:off x="274320" y="4160520"/>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የ</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ዩ</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ዪ</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ያ</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ዬ</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ይ</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ዮ</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ye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yu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yi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ya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yie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y</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yo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8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4A7A"/>
          </a:solidFill>
          <a:ln w="12700">
            <a:solidFill>
              <a:srgbClr val="1A4A7A"/>
            </a:solidFill>
            <a:prstDash val="solid"/>
          </a:ln>
        </p:spPr>
        <p:txBody>
          <a:bodyPr/>
          <a:lstStyle/>
          <a:p>
            <a:endParaRPr lang="en-US"/>
          </a:p>
        </p:txBody>
      </p:sp>
      <p:sp>
        <p:nvSpPr>
          <p:cNvPr id="3" name="Text 1"/>
          <p:cNvSpPr/>
          <p:nvPr/>
        </p:nvSpPr>
        <p:spPr>
          <a:xfrm>
            <a:off x="274320" y="0"/>
            <a:ext cx="8595360" cy="5943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3. Complete Letter Reference (6/7)</a:t>
            </a:r>
            <a:endParaRPr lang="en-US" sz="2200" dirty="0"/>
          </a:p>
        </p:txBody>
      </p:sp>
      <p:sp>
        <p:nvSpPr>
          <p:cNvPr id="5" name="Text 3"/>
          <p:cNvSpPr/>
          <p:nvPr/>
        </p:nvSpPr>
        <p:spPr>
          <a:xfrm>
            <a:off x="274320" y="579120"/>
            <a:ext cx="8595360" cy="256032"/>
          </a:xfrm>
          <a:prstGeom prst="rect">
            <a:avLst/>
          </a:prstGeom>
          <a:noFill/>
          <a:ln/>
        </p:spPr>
        <p:txBody>
          <a:bodyPr wrap="square" rtlCol="0" anchor="ctr"/>
          <a:lstStyle/>
          <a:p>
            <a:pPr marL="0" indent="0">
              <a:buNone/>
            </a:pPr>
            <a:r>
              <a:rPr lang="en-US" sz="1300" b="1" dirty="0">
                <a:solidFill>
                  <a:srgbClr val="1A4A7A"/>
                </a:solidFill>
                <a:latin typeface="Georgia" pitchFamily="34" charset="0"/>
                <a:ea typeface="Georgia" pitchFamily="34" charset="-122"/>
                <a:cs typeface="Georgia" pitchFamily="34" charset="-120"/>
              </a:rPr>
              <a:t>ጅ-ድንት (j)</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3048846751"/>
              </p:ext>
            </p:extLst>
          </p:nvPr>
        </p:nvGraphicFramePr>
        <p:xfrm>
          <a:off x="274320" y="856877"/>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ጀ</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ጁ</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ጂ</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ጃ</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ጄ</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ጅ</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ጆ</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je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ju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ji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ja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jie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j</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jo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7" name="Text 4"/>
          <p:cNvSpPr/>
          <p:nvPr/>
        </p:nvSpPr>
        <p:spPr>
          <a:xfrm>
            <a:off x="274320" y="1698644"/>
            <a:ext cx="8595360" cy="256032"/>
          </a:xfrm>
          <a:prstGeom prst="rect">
            <a:avLst/>
          </a:prstGeom>
          <a:noFill/>
          <a:ln/>
        </p:spPr>
        <p:txBody>
          <a:bodyPr wrap="square" rtlCol="0" anchor="ctr"/>
          <a:lstStyle/>
          <a:p>
            <a:pPr marL="0" indent="0">
              <a:buNone/>
            </a:pPr>
            <a:r>
              <a:rPr lang="en-US" sz="1300" b="1" dirty="0">
                <a:solidFill>
                  <a:srgbClr val="1A4A7A"/>
                </a:solidFill>
                <a:latin typeface="Georgia" pitchFamily="34" charset="0"/>
                <a:ea typeface="Georgia" pitchFamily="34" charset="-122"/>
                <a:cs typeface="Georgia" pitchFamily="34" charset="-120"/>
              </a:rPr>
              <a:t>ገምል (g)</a:t>
            </a:r>
            <a:endParaRPr lang="en-US" sz="1300" dirty="0"/>
          </a:p>
        </p:txBody>
      </p:sp>
      <p:graphicFrame>
        <p:nvGraphicFramePr>
          <p:cNvPr id="25" name="Table 1"/>
          <p:cNvGraphicFramePr>
            <a:graphicFrameLocks noGrp="1"/>
          </p:cNvGraphicFramePr>
          <p:nvPr>
            <p:extLst>
              <p:ext uri="{D42A27DB-BD31-4B8C-83A1-F6EECF244321}">
                <p14:modId xmlns:p14="http://schemas.microsoft.com/office/powerpoint/2010/main" val="3714074355"/>
              </p:ext>
            </p:extLst>
          </p:nvPr>
        </p:nvGraphicFramePr>
        <p:xfrm>
          <a:off x="274320" y="1954676"/>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ገ</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ጉ</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ጊ</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ጋ</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ጌ</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ግ</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ጎ</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ge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gu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gi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ga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gie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g</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go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9" name="Text 5"/>
          <p:cNvSpPr/>
          <p:nvPr/>
        </p:nvSpPr>
        <p:spPr>
          <a:xfrm>
            <a:off x="274320" y="2743200"/>
            <a:ext cx="8595360" cy="256032"/>
          </a:xfrm>
          <a:prstGeom prst="rect">
            <a:avLst/>
          </a:prstGeom>
          <a:noFill/>
          <a:ln/>
        </p:spPr>
        <p:txBody>
          <a:bodyPr wrap="square" rtlCol="0" anchor="ctr"/>
          <a:lstStyle/>
          <a:p>
            <a:pPr marL="0" indent="0">
              <a:buNone/>
            </a:pPr>
            <a:r>
              <a:rPr lang="en-US" sz="1300" b="1" dirty="0">
                <a:solidFill>
                  <a:srgbClr val="1A4A7A"/>
                </a:solidFill>
                <a:latin typeface="Georgia" pitchFamily="34" charset="0"/>
                <a:ea typeface="Georgia" pitchFamily="34" charset="-122"/>
                <a:cs typeface="Georgia" pitchFamily="34" charset="-120"/>
              </a:rPr>
              <a:t>ጠይት (T)</a:t>
            </a:r>
            <a:endParaRPr lang="en-US" sz="1300" dirty="0"/>
          </a:p>
        </p:txBody>
      </p:sp>
      <p:graphicFrame>
        <p:nvGraphicFramePr>
          <p:cNvPr id="37" name="Table 2"/>
          <p:cNvGraphicFramePr>
            <a:graphicFrameLocks noGrp="1"/>
          </p:cNvGraphicFramePr>
          <p:nvPr>
            <p:extLst>
              <p:ext uri="{D42A27DB-BD31-4B8C-83A1-F6EECF244321}">
                <p14:modId xmlns:p14="http://schemas.microsoft.com/office/powerpoint/2010/main" val="1191702165"/>
              </p:ext>
            </p:extLst>
          </p:nvPr>
        </p:nvGraphicFramePr>
        <p:xfrm>
          <a:off x="274320" y="3050594"/>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ጠ</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ጡ</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ጢ</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ጣ</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ጤ</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ጥ</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ጦ</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Te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Tu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Ti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Ta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Tie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T</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To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1" name="Text 6"/>
          <p:cNvSpPr/>
          <p:nvPr/>
        </p:nvSpPr>
        <p:spPr>
          <a:xfrm>
            <a:off x="274317" y="3885681"/>
            <a:ext cx="8595360" cy="256032"/>
          </a:xfrm>
          <a:prstGeom prst="rect">
            <a:avLst/>
          </a:prstGeom>
          <a:noFill/>
          <a:ln/>
        </p:spPr>
        <p:txBody>
          <a:bodyPr wrap="square" rtlCol="0" anchor="ctr"/>
          <a:lstStyle/>
          <a:p>
            <a:pPr marL="0" indent="0">
              <a:buNone/>
            </a:pPr>
            <a:r>
              <a:rPr lang="en-US" sz="1300" b="1" dirty="0">
                <a:solidFill>
                  <a:srgbClr val="1A4A7A"/>
                </a:solidFill>
                <a:latin typeface="Georgia" pitchFamily="34" charset="0"/>
                <a:ea typeface="Georgia" pitchFamily="34" charset="-122"/>
                <a:cs typeface="Georgia" pitchFamily="34" charset="-120"/>
              </a:rPr>
              <a:t>ጨ-ጠይት (C)</a:t>
            </a:r>
            <a:endParaRPr lang="en-US" sz="1300" dirty="0"/>
          </a:p>
        </p:txBody>
      </p:sp>
      <p:graphicFrame>
        <p:nvGraphicFramePr>
          <p:cNvPr id="49" name="Table 3"/>
          <p:cNvGraphicFramePr>
            <a:graphicFrameLocks noGrp="1"/>
          </p:cNvGraphicFramePr>
          <p:nvPr>
            <p:extLst>
              <p:ext uri="{D42A27DB-BD31-4B8C-83A1-F6EECF244321}">
                <p14:modId xmlns:p14="http://schemas.microsoft.com/office/powerpoint/2010/main" val="3816157058"/>
              </p:ext>
            </p:extLst>
          </p:nvPr>
        </p:nvGraphicFramePr>
        <p:xfrm>
          <a:off x="274317" y="4160520"/>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ጨ</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ጩ</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ጪ</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ጫ</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ጬ</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ጭ</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ጮ</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Ce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Cu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Ci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Ca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Cie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C</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Co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8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4A7A"/>
          </a:solidFill>
          <a:ln w="12700">
            <a:solidFill>
              <a:srgbClr val="1A4A7A"/>
            </a:solidFill>
            <a:prstDash val="solid"/>
          </a:ln>
        </p:spPr>
        <p:txBody>
          <a:bodyPr/>
          <a:lstStyle/>
          <a:p>
            <a:endParaRPr lang="en-US"/>
          </a:p>
        </p:txBody>
      </p:sp>
      <p:sp>
        <p:nvSpPr>
          <p:cNvPr id="3" name="Text 1"/>
          <p:cNvSpPr/>
          <p:nvPr/>
        </p:nvSpPr>
        <p:spPr>
          <a:xfrm>
            <a:off x="274320" y="0"/>
            <a:ext cx="8595360" cy="5943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3. Complete Letter Reference (7/7)</a:t>
            </a:r>
            <a:endParaRPr lang="en-US" sz="2200" dirty="0"/>
          </a:p>
        </p:txBody>
      </p:sp>
      <p:sp>
        <p:nvSpPr>
          <p:cNvPr id="5" name="Text 3"/>
          <p:cNvSpPr/>
          <p:nvPr/>
        </p:nvSpPr>
        <p:spPr>
          <a:xfrm>
            <a:off x="274314" y="639885"/>
            <a:ext cx="8595360" cy="256032"/>
          </a:xfrm>
          <a:prstGeom prst="rect">
            <a:avLst/>
          </a:prstGeom>
          <a:noFill/>
          <a:ln/>
        </p:spPr>
        <p:txBody>
          <a:bodyPr wrap="square" rtlCol="0" anchor="ctr"/>
          <a:lstStyle/>
          <a:p>
            <a:pPr marL="0" indent="0">
              <a:buNone/>
            </a:pPr>
            <a:r>
              <a:rPr lang="en-US" sz="1300" b="1" dirty="0">
                <a:solidFill>
                  <a:srgbClr val="1A4A7A"/>
                </a:solidFill>
                <a:latin typeface="Georgia" pitchFamily="34" charset="0"/>
                <a:ea typeface="Georgia" pitchFamily="34" charset="-122"/>
                <a:cs typeface="Georgia" pitchFamily="34" charset="-120"/>
              </a:rPr>
              <a:t>ጸደይ (S)</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3512263749"/>
              </p:ext>
            </p:extLst>
          </p:nvPr>
        </p:nvGraphicFramePr>
        <p:xfrm>
          <a:off x="274314" y="908239"/>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ጸ</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ጹ</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ጺ</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ጻ</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ጼ</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ጽ</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ጾ</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Se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Su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Si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Sa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Sie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S</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So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7" name="Text 4"/>
          <p:cNvSpPr/>
          <p:nvPr/>
        </p:nvSpPr>
        <p:spPr>
          <a:xfrm>
            <a:off x="274320" y="1737360"/>
            <a:ext cx="8595360" cy="256032"/>
          </a:xfrm>
          <a:prstGeom prst="rect">
            <a:avLst/>
          </a:prstGeom>
          <a:noFill/>
          <a:ln/>
        </p:spPr>
        <p:txBody>
          <a:bodyPr wrap="square" rtlCol="0" anchor="ctr"/>
          <a:lstStyle/>
          <a:p>
            <a:pPr marL="0" indent="0">
              <a:buNone/>
            </a:pPr>
            <a:r>
              <a:rPr lang="en-US" sz="1300" b="1" dirty="0">
                <a:solidFill>
                  <a:srgbClr val="1A4A7A"/>
                </a:solidFill>
                <a:latin typeface="Georgia" pitchFamily="34" charset="0"/>
                <a:ea typeface="Georgia" pitchFamily="34" charset="-122"/>
                <a:cs typeface="Georgia" pitchFamily="34" charset="-120"/>
              </a:rPr>
              <a:t>ፀጳ (SS)</a:t>
            </a:r>
            <a:endParaRPr lang="en-US" sz="130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274320" y="1993392"/>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ፀ</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ፁ</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ፂ</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ፃ</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ፄ</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ፅ</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ፆ</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SSe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SSu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SSi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SSa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SSie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SS</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SSo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9" name="Text 5"/>
          <p:cNvSpPr/>
          <p:nvPr/>
        </p:nvSpPr>
        <p:spPr>
          <a:xfrm>
            <a:off x="274323" y="2821572"/>
            <a:ext cx="8595360" cy="256032"/>
          </a:xfrm>
          <a:prstGeom prst="rect">
            <a:avLst/>
          </a:prstGeom>
          <a:noFill/>
          <a:ln/>
        </p:spPr>
        <p:txBody>
          <a:bodyPr wrap="square" rtlCol="0" anchor="ctr"/>
          <a:lstStyle/>
          <a:p>
            <a:pPr marL="0" indent="0">
              <a:buNone/>
            </a:pPr>
            <a:r>
              <a:rPr lang="en-US" sz="1300" b="1" dirty="0">
                <a:solidFill>
                  <a:srgbClr val="1A4A7A"/>
                </a:solidFill>
                <a:latin typeface="Georgia" pitchFamily="34" charset="0"/>
                <a:ea typeface="Georgia" pitchFamily="34" charset="-122"/>
                <a:cs typeface="Georgia" pitchFamily="34" charset="-120"/>
              </a:rPr>
              <a:t>አፍ (f)</a:t>
            </a:r>
            <a:endParaRPr lang="en-US" sz="1300" dirty="0"/>
          </a:p>
        </p:txBody>
      </p:sp>
      <p:graphicFrame>
        <p:nvGraphicFramePr>
          <p:cNvPr id="40" name="Table 2"/>
          <p:cNvGraphicFramePr>
            <a:graphicFrameLocks noGrp="1"/>
          </p:cNvGraphicFramePr>
          <p:nvPr>
            <p:extLst>
              <p:ext uri="{D42A27DB-BD31-4B8C-83A1-F6EECF244321}">
                <p14:modId xmlns:p14="http://schemas.microsoft.com/office/powerpoint/2010/main" val="949863173"/>
              </p:ext>
            </p:extLst>
          </p:nvPr>
        </p:nvGraphicFramePr>
        <p:xfrm>
          <a:off x="274320" y="3074670"/>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ፈ</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ፉ</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ፊ</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ፋ</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ፌ</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ፍ</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ፎ</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fe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fu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fi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fa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fie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f</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fo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1" name="Text 6"/>
          <p:cNvSpPr/>
          <p:nvPr/>
        </p:nvSpPr>
        <p:spPr>
          <a:xfrm>
            <a:off x="274317" y="3887594"/>
            <a:ext cx="8595360" cy="256032"/>
          </a:xfrm>
          <a:prstGeom prst="rect">
            <a:avLst/>
          </a:prstGeom>
          <a:noFill/>
          <a:ln/>
        </p:spPr>
        <p:txBody>
          <a:bodyPr wrap="square" rtlCol="0" anchor="ctr"/>
          <a:lstStyle/>
          <a:p>
            <a:pPr marL="0" indent="0">
              <a:buNone/>
            </a:pPr>
            <a:r>
              <a:rPr lang="en-US" sz="1300" b="1" dirty="0">
                <a:solidFill>
                  <a:srgbClr val="1A4A7A"/>
                </a:solidFill>
                <a:latin typeface="Georgia" pitchFamily="34" charset="0"/>
                <a:ea typeface="Georgia" pitchFamily="34" charset="-122"/>
                <a:cs typeface="Georgia" pitchFamily="34" charset="-120"/>
              </a:rPr>
              <a:t>ፕሳ (p)</a:t>
            </a:r>
            <a:endParaRPr lang="en-US" sz="1300" dirty="0"/>
          </a:p>
        </p:txBody>
      </p:sp>
      <p:graphicFrame>
        <p:nvGraphicFramePr>
          <p:cNvPr id="53" name="Table 3"/>
          <p:cNvGraphicFramePr>
            <a:graphicFrameLocks noGrp="1"/>
          </p:cNvGraphicFramePr>
          <p:nvPr>
            <p:extLst>
              <p:ext uri="{D42A27DB-BD31-4B8C-83A1-F6EECF244321}">
                <p14:modId xmlns:p14="http://schemas.microsoft.com/office/powerpoint/2010/main" val="2849636846"/>
              </p:ext>
            </p:extLst>
          </p:nvPr>
        </p:nvGraphicFramePr>
        <p:xfrm>
          <a:off x="274317" y="4155948"/>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ፐ</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ፑ</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ፒ</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ፓ</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ፔ</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ፕ</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ፖ</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pe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pu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pi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pa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pie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p</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1A1A2A"/>
                          </a:solidFill>
                          <a:latin typeface="Courier New" pitchFamily="34" charset="0"/>
                          <a:ea typeface="Courier New" pitchFamily="34" charset="-122"/>
                          <a:cs typeface="Courier New" pitchFamily="34" charset="-120"/>
                        </a:rPr>
                        <a:t>po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8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4A7A"/>
          </a:solidFill>
          <a:ln w="12700">
            <a:solidFill>
              <a:srgbClr val="1A4A7A"/>
            </a:solidFill>
            <a:prstDash val="solid"/>
          </a:ln>
        </p:spPr>
        <p:txBody>
          <a:bodyPr/>
          <a:lstStyle/>
          <a:p>
            <a:endParaRPr lang="en-US"/>
          </a:p>
        </p:txBody>
      </p:sp>
      <p:sp>
        <p:nvSpPr>
          <p:cNvPr id="3" name="Text 1"/>
          <p:cNvSpPr/>
          <p:nvPr/>
        </p:nvSpPr>
        <p:spPr>
          <a:xfrm>
            <a:off x="274320" y="0"/>
            <a:ext cx="8595360" cy="5943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4. Rounded-Lip (Labialized) Letters</a:t>
            </a:r>
            <a:endParaRPr lang="en-US" sz="2200" dirty="0"/>
          </a:p>
        </p:txBody>
      </p:sp>
      <p:sp>
        <p:nvSpPr>
          <p:cNvPr id="4" name="Text 2"/>
          <p:cNvSpPr/>
          <p:nvPr/>
        </p:nvSpPr>
        <p:spPr>
          <a:xfrm>
            <a:off x="274320" y="808725"/>
            <a:ext cx="8412480" cy="292608"/>
          </a:xfrm>
          <a:prstGeom prst="rect">
            <a:avLst/>
          </a:prstGeom>
          <a:noFill/>
          <a:ln/>
        </p:spPr>
        <p:txBody>
          <a:bodyPr wrap="square" rtlCol="0" anchor="ctr"/>
          <a:lstStyle/>
          <a:p>
            <a:pPr marL="0" indent="0">
              <a:buNone/>
            </a:pPr>
            <a:r>
              <a:rPr lang="en-US" sz="1400" b="1" dirty="0">
                <a:solidFill>
                  <a:srgbClr val="1A4A7A"/>
                </a:solidFill>
                <a:latin typeface="Georgia" pitchFamily="34" charset="0"/>
                <a:ea typeface="Georgia" pitchFamily="34" charset="-122"/>
                <a:cs typeface="Georgia" pitchFamily="34" charset="-120"/>
              </a:rPr>
              <a:t>Type: consonant + u + extra vowel</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2681612760"/>
              </p:ext>
            </p:extLst>
          </p:nvPr>
        </p:nvGraphicFramePr>
        <p:xfrm>
          <a:off x="274320" y="1341898"/>
          <a:ext cx="8412480" cy="3456432"/>
        </p:xfrm>
        <a:graphic>
          <a:graphicData uri="http://schemas.openxmlformats.org/drawingml/2006/table">
            <a:tbl>
              <a:tblPr/>
              <a:tblGrid>
                <a:gridCol w="1399032">
                  <a:extLst>
                    <a:ext uri="{9D8B030D-6E8A-4147-A177-3AD203B41FA5}">
                      <a16:colId xmlns:a16="http://schemas.microsoft.com/office/drawing/2014/main" val="20000"/>
                    </a:ext>
                  </a:extLst>
                </a:gridCol>
                <a:gridCol w="1399032">
                  <a:extLst>
                    <a:ext uri="{9D8B030D-6E8A-4147-A177-3AD203B41FA5}">
                      <a16:colId xmlns:a16="http://schemas.microsoft.com/office/drawing/2014/main" val="20001"/>
                    </a:ext>
                  </a:extLst>
                </a:gridCol>
                <a:gridCol w="1399032">
                  <a:extLst>
                    <a:ext uri="{9D8B030D-6E8A-4147-A177-3AD203B41FA5}">
                      <a16:colId xmlns:a16="http://schemas.microsoft.com/office/drawing/2014/main" val="20002"/>
                    </a:ext>
                  </a:extLst>
                </a:gridCol>
                <a:gridCol w="1399032">
                  <a:extLst>
                    <a:ext uri="{9D8B030D-6E8A-4147-A177-3AD203B41FA5}">
                      <a16:colId xmlns:a16="http://schemas.microsoft.com/office/drawing/2014/main" val="20003"/>
                    </a:ext>
                  </a:extLst>
                </a:gridCol>
                <a:gridCol w="1399032">
                  <a:extLst>
                    <a:ext uri="{9D8B030D-6E8A-4147-A177-3AD203B41FA5}">
                      <a16:colId xmlns:a16="http://schemas.microsoft.com/office/drawing/2014/main" val="20004"/>
                    </a:ext>
                  </a:extLst>
                </a:gridCol>
                <a:gridCol w="1417320">
                  <a:extLst>
                    <a:ext uri="{9D8B030D-6E8A-4147-A177-3AD203B41FA5}">
                      <a16:colId xmlns:a16="http://schemas.microsoft.com/office/drawing/2014/main" val="20005"/>
                    </a:ext>
                  </a:extLst>
                </a:gridCol>
              </a:tblGrid>
              <a:tr h="38404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Hua</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ሗ</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mua</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ሟ</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rua</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ሯ</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sua</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ሷ</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que</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ቈ</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qua</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ቋ</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bua</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ቧ</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cua</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ቿ</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hue</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ኈ</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hua</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ኋ</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nua</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ኗ</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Nua</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ኟ</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kue</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ኰ</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kua</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ኳ</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gua</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ጓ</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guie</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ጔ</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Tua</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ጧ</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Cua</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ጯ</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4048">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Pua</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ጷ</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Sua</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ጿ</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fua</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ፏ</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84048">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pua</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ፗ</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8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4A7A"/>
          </a:solidFill>
          <a:ln w="12700">
            <a:solidFill>
              <a:srgbClr val="1A4A7A"/>
            </a:solidFill>
            <a:prstDash val="solid"/>
          </a:ln>
        </p:spPr>
        <p:txBody>
          <a:bodyPr/>
          <a:lstStyle/>
          <a:p>
            <a:endParaRPr lang="en-US"/>
          </a:p>
        </p:txBody>
      </p:sp>
      <p:sp>
        <p:nvSpPr>
          <p:cNvPr id="3" name="Text 1"/>
          <p:cNvSpPr/>
          <p:nvPr/>
        </p:nvSpPr>
        <p:spPr>
          <a:xfrm>
            <a:off x="274320" y="0"/>
            <a:ext cx="8595360" cy="5943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5. Ethiopic Numbers</a:t>
            </a:r>
            <a:endParaRPr lang="en-US" sz="2200" dirty="0"/>
          </a:p>
        </p:txBody>
      </p:sp>
      <p:sp>
        <p:nvSpPr>
          <p:cNvPr id="4" name="Text 2"/>
          <p:cNvSpPr/>
          <p:nvPr/>
        </p:nvSpPr>
        <p:spPr>
          <a:xfrm>
            <a:off x="365760" y="612648"/>
            <a:ext cx="8412480" cy="292608"/>
          </a:xfrm>
          <a:prstGeom prst="rect">
            <a:avLst/>
          </a:prstGeom>
          <a:noFill/>
          <a:ln/>
        </p:spPr>
        <p:txBody>
          <a:bodyPr wrap="square" rtlCol="0" anchor="ctr"/>
          <a:lstStyle/>
          <a:p>
            <a:pPr marL="0" indent="0">
              <a:buNone/>
            </a:pPr>
            <a:r>
              <a:rPr lang="en-US" sz="1300" dirty="0">
                <a:solidFill>
                  <a:srgbClr val="1A1A2A"/>
                </a:solidFill>
                <a:latin typeface="Calibri" pitchFamily="34" charset="0"/>
                <a:ea typeface="Calibri" pitchFamily="34" charset="-122"/>
                <a:cs typeface="Calibri" pitchFamily="34" charset="-120"/>
              </a:rPr>
              <a:t>Type a hash mark (#) followed by the Arabic number:</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82308875"/>
              </p:ext>
            </p:extLst>
          </p:nvPr>
        </p:nvGraphicFramePr>
        <p:xfrm>
          <a:off x="365760" y="954024"/>
          <a:ext cx="4114800" cy="149352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27432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274320">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#1</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፩</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One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#10</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፲</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Ten</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#100</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፻</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One hundred</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#10000</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፼</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Ten thousand</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Text 3"/>
          <p:cNvSpPr/>
          <p:nvPr/>
        </p:nvSpPr>
        <p:spPr>
          <a:xfrm>
            <a:off x="365760" y="2496312"/>
            <a:ext cx="8412480" cy="274320"/>
          </a:xfrm>
          <a:prstGeom prst="rect">
            <a:avLst/>
          </a:prstGeom>
          <a:noFill/>
          <a:ln/>
        </p:spPr>
        <p:txBody>
          <a:bodyPr wrap="square" rtlCol="0" anchor="ctr"/>
          <a:lstStyle/>
          <a:p>
            <a:pPr marL="0" indent="0">
              <a:buNone/>
            </a:pPr>
            <a:r>
              <a:rPr lang="en-US" sz="1300" b="1" dirty="0">
                <a:solidFill>
                  <a:srgbClr val="1A4A7A"/>
                </a:solidFill>
                <a:latin typeface="Georgia" pitchFamily="34" charset="0"/>
                <a:ea typeface="Georgia" pitchFamily="34" charset="-122"/>
                <a:cs typeface="Georgia" pitchFamily="34" charset="-120"/>
              </a:rPr>
              <a:t>Full Number Reference:</a:t>
            </a:r>
            <a:endParaRPr lang="en-US" sz="130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365760" y="2788920"/>
          <a:ext cx="8412480" cy="1975104"/>
        </p:xfrm>
        <a:graphic>
          <a:graphicData uri="http://schemas.openxmlformats.org/drawingml/2006/table">
            <a:tbl>
              <a:tblPr/>
              <a:tblGrid>
                <a:gridCol w="934720">
                  <a:extLst>
                    <a:ext uri="{9D8B030D-6E8A-4147-A177-3AD203B41FA5}">
                      <a16:colId xmlns:a16="http://schemas.microsoft.com/office/drawing/2014/main" val="20000"/>
                    </a:ext>
                  </a:extLst>
                </a:gridCol>
                <a:gridCol w="934720">
                  <a:extLst>
                    <a:ext uri="{9D8B030D-6E8A-4147-A177-3AD203B41FA5}">
                      <a16:colId xmlns:a16="http://schemas.microsoft.com/office/drawing/2014/main" val="20001"/>
                    </a:ext>
                  </a:extLst>
                </a:gridCol>
                <a:gridCol w="934720">
                  <a:extLst>
                    <a:ext uri="{9D8B030D-6E8A-4147-A177-3AD203B41FA5}">
                      <a16:colId xmlns:a16="http://schemas.microsoft.com/office/drawing/2014/main" val="20002"/>
                    </a:ext>
                  </a:extLst>
                </a:gridCol>
                <a:gridCol w="934720">
                  <a:extLst>
                    <a:ext uri="{9D8B030D-6E8A-4147-A177-3AD203B41FA5}">
                      <a16:colId xmlns:a16="http://schemas.microsoft.com/office/drawing/2014/main" val="20003"/>
                    </a:ext>
                  </a:extLst>
                </a:gridCol>
                <a:gridCol w="934720">
                  <a:extLst>
                    <a:ext uri="{9D8B030D-6E8A-4147-A177-3AD203B41FA5}">
                      <a16:colId xmlns:a16="http://schemas.microsoft.com/office/drawing/2014/main" val="20004"/>
                    </a:ext>
                  </a:extLst>
                </a:gridCol>
                <a:gridCol w="934720">
                  <a:extLst>
                    <a:ext uri="{9D8B030D-6E8A-4147-A177-3AD203B41FA5}">
                      <a16:colId xmlns:a16="http://schemas.microsoft.com/office/drawing/2014/main" val="20005"/>
                    </a:ext>
                  </a:extLst>
                </a:gridCol>
                <a:gridCol w="934720">
                  <a:extLst>
                    <a:ext uri="{9D8B030D-6E8A-4147-A177-3AD203B41FA5}">
                      <a16:colId xmlns:a16="http://schemas.microsoft.com/office/drawing/2014/main" val="20006"/>
                    </a:ext>
                  </a:extLst>
                </a:gridCol>
                <a:gridCol w="934720">
                  <a:extLst>
                    <a:ext uri="{9D8B030D-6E8A-4147-A177-3AD203B41FA5}">
                      <a16:colId xmlns:a16="http://schemas.microsoft.com/office/drawing/2014/main" val="20007"/>
                    </a:ext>
                  </a:extLst>
                </a:gridCol>
                <a:gridCol w="934720">
                  <a:extLst>
                    <a:ext uri="{9D8B030D-6E8A-4147-A177-3AD203B41FA5}">
                      <a16:colId xmlns:a16="http://schemas.microsoft.com/office/drawing/2014/main" val="20008"/>
                    </a:ext>
                  </a:extLst>
                </a:gridCol>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329184">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፩</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፪</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፫</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፬</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፭</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፮</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፯</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፰</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፱</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#40</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#60</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#70</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#80</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#90</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2"/>
                  </a:ext>
                </a:extLst>
              </a:tr>
              <a:tr h="329184">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፲</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፳</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፴</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፵</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፶</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፷</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፸</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፹</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፺</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#1000</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#10000</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184">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፻</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፲፻</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፼</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Text 4"/>
          <p:cNvSpPr/>
          <p:nvPr/>
        </p:nvSpPr>
        <p:spPr>
          <a:xfrm>
            <a:off x="365760" y="4892040"/>
            <a:ext cx="8412480" cy="182880"/>
          </a:xfrm>
          <a:prstGeom prst="rect">
            <a:avLst/>
          </a:prstGeom>
          <a:noFill/>
          <a:ln/>
        </p:spPr>
        <p:txBody>
          <a:bodyPr wrap="square"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Note: To type a literal # before a number, type ## (double hash).</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8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4A7A"/>
          </a:solidFill>
          <a:ln w="12700">
            <a:solidFill>
              <a:srgbClr val="1A4A7A"/>
            </a:solidFill>
            <a:prstDash val="solid"/>
          </a:ln>
        </p:spPr>
        <p:txBody>
          <a:bodyPr/>
          <a:lstStyle/>
          <a:p>
            <a:endParaRPr lang="en-US"/>
          </a:p>
        </p:txBody>
      </p:sp>
      <p:sp>
        <p:nvSpPr>
          <p:cNvPr id="3" name="Text 1"/>
          <p:cNvSpPr/>
          <p:nvPr/>
        </p:nvSpPr>
        <p:spPr>
          <a:xfrm>
            <a:off x="274320" y="0"/>
            <a:ext cx="8595360" cy="5943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6. Punctuation</a:t>
            </a:r>
            <a:endParaRPr lang="en-US" sz="2200" dirty="0"/>
          </a:p>
        </p:txBody>
      </p:sp>
      <p:sp>
        <p:nvSpPr>
          <p:cNvPr id="4" name="Text 2"/>
          <p:cNvSpPr/>
          <p:nvPr/>
        </p:nvSpPr>
        <p:spPr>
          <a:xfrm>
            <a:off x="365760" y="713232"/>
            <a:ext cx="8412480" cy="365760"/>
          </a:xfrm>
          <a:prstGeom prst="rect">
            <a:avLst/>
          </a:prstGeom>
          <a:noFill/>
          <a:ln/>
        </p:spPr>
        <p:txBody>
          <a:bodyPr wrap="square" rtlCol="0" anchor="ctr"/>
          <a:lstStyle/>
          <a:p>
            <a:pPr marL="0" indent="0">
              <a:buNone/>
            </a:pPr>
            <a:r>
              <a:rPr lang="en-US" sz="1300" dirty="0">
                <a:solidFill>
                  <a:srgbClr val="1A1A2A"/>
                </a:solidFill>
                <a:latin typeface="Calibri" pitchFamily="34" charset="0"/>
                <a:ea typeface="Calibri" pitchFamily="34" charset="-122"/>
                <a:cs typeface="Calibri" pitchFamily="34" charset="-120"/>
              </a:rPr>
              <a:t>Ethiopic punctuation is produced by typing the similar key twice (or more). All standard English punctuation works normally.</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65760" y="1143000"/>
          <a:ext cx="8412480" cy="3931920"/>
        </p:xfrm>
        <a:graphic>
          <a:graphicData uri="http://schemas.openxmlformats.org/drawingml/2006/table">
            <a:tbl>
              <a:tblPr/>
              <a:tblGrid>
                <a:gridCol w="109728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5669280">
                  <a:extLst>
                    <a:ext uri="{9D8B030D-6E8A-4147-A177-3AD203B41FA5}">
                      <a16:colId xmlns:a16="http://schemas.microsoft.com/office/drawing/2014/main" val="20002"/>
                    </a:ext>
                  </a:extLst>
                </a:gridCol>
              </a:tblGrid>
              <a:tr h="27432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Symbol</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274320">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Word separator (classical texts)</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Full stop — end of sentence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Comma — pause within a sentence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Semicolon — stronger pause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Introduces a list or quote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Double comma — paragraph mark</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74320">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Section mark</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74320">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Book / passage mark</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74320">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ourier New" pitchFamily="34" charset="0"/>
                          <a:ea typeface="Courier New" pitchFamily="34" charset="-122"/>
                          <a:cs typeface="Courier New" pitchFamily="34" charset="-120"/>
                        </a:rPr>
                        <a:t>&lt;</a:t>
                      </a:r>
                      <a:endParaRPr lang="en-US" sz="13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Single left quotation mark</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74320">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ourier New" pitchFamily="34" charset="0"/>
                          <a:ea typeface="Courier New" pitchFamily="34" charset="-122"/>
                          <a:cs typeface="Courier New" pitchFamily="34" charset="-120"/>
                        </a:rPr>
                        <a:t>&gt;</a:t>
                      </a:r>
                      <a:endParaRPr lang="en-US" sz="13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Single right quotation mark</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74320">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ourier New" pitchFamily="34" charset="0"/>
                          <a:ea typeface="Courier New" pitchFamily="34" charset="-122"/>
                          <a:cs typeface="Courier New" pitchFamily="34" charset="-120"/>
                        </a:rPr>
                        <a:t>&lt;&lt;</a:t>
                      </a:r>
                      <a:endParaRPr lang="en-US" sz="13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Double left quotation mark</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74320">
                <a:tc>
                  <a:txBody>
                    <a:bodyPr/>
                    <a:lstStyle/>
                    <a:p>
                      <a:pPr marL="0" indent="0">
                        <a:buNone/>
                      </a:pPr>
                      <a:r>
                        <a:rPr lang="en-US" sz="1400" b="1" dirty="0">
                          <a:solidFill>
                            <a:srgbClr val="1A4A7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ourier New" pitchFamily="34" charset="0"/>
                          <a:ea typeface="Courier New" pitchFamily="34" charset="-122"/>
                          <a:cs typeface="Courier New" pitchFamily="34" charset="-120"/>
                        </a:rPr>
                        <a:t>&gt;&gt;</a:t>
                      </a:r>
                      <a:endParaRPr lang="en-US" sz="13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Double right quotation mark</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8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4A7A"/>
          </a:solidFill>
          <a:ln w="12700">
            <a:solidFill>
              <a:srgbClr val="1A4A7A"/>
            </a:solidFill>
            <a:prstDash val="solid"/>
          </a:ln>
        </p:spPr>
        <p:txBody>
          <a:bodyPr/>
          <a:lstStyle/>
          <a:p>
            <a:endParaRPr lang="en-US"/>
          </a:p>
        </p:txBody>
      </p:sp>
      <p:sp>
        <p:nvSpPr>
          <p:cNvPr id="3" name="Text 1"/>
          <p:cNvSpPr/>
          <p:nvPr/>
        </p:nvSpPr>
        <p:spPr>
          <a:xfrm>
            <a:off x="274320" y="0"/>
            <a:ext cx="8595360" cy="5943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7. Quick Reference</a:t>
            </a:r>
            <a:endParaRPr lang="en-US" sz="2200" dirty="0"/>
          </a:p>
        </p:txBody>
      </p:sp>
      <p:graphicFrame>
        <p:nvGraphicFramePr>
          <p:cNvPr id="18" name="Table 0"/>
          <p:cNvGraphicFramePr>
            <a:graphicFrameLocks noGrp="1"/>
          </p:cNvGraphicFramePr>
          <p:nvPr>
            <p:extLst>
              <p:ext uri="{D42A27DB-BD31-4B8C-83A1-F6EECF244321}">
                <p14:modId xmlns:p14="http://schemas.microsoft.com/office/powerpoint/2010/main" val="2198480817"/>
              </p:ext>
            </p:extLst>
          </p:nvPr>
        </p:nvGraphicFramePr>
        <p:xfrm>
          <a:off x="274320" y="1115308"/>
          <a:ext cx="8595360" cy="3621024"/>
        </p:xfrm>
        <a:graphic>
          <a:graphicData uri="http://schemas.openxmlformats.org/drawingml/2006/table">
            <a:tbl>
              <a:tblPr/>
              <a:tblGrid>
                <a:gridCol w="21031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Situation</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to do</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Examples</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329184">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Normal letter</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consonant + vowel</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ourier New" pitchFamily="34" charset="0"/>
                          <a:ea typeface="Courier New" pitchFamily="34" charset="-122"/>
                          <a:cs typeface="Courier New" pitchFamily="34" charset="-120"/>
                        </a:rPr>
                        <a:t>se=ሰ  ma=ማ  bo=ቦ</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6th order (no vowel)</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consonant only</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ourier New" pitchFamily="34" charset="0"/>
                          <a:ea typeface="Courier New" pitchFamily="34" charset="-122"/>
                          <a:cs typeface="Courier New" pitchFamily="34" charset="-120"/>
                        </a:rPr>
                        <a:t>m=ም  s=ስ  b=ብ</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Emphatic/strong sound</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Use CAPITAL letter</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ourier New" pitchFamily="34" charset="0"/>
                          <a:ea typeface="Courier New" pitchFamily="34" charset="-122"/>
                          <a:cs typeface="Courier New" pitchFamily="34" charset="-120"/>
                        </a:rPr>
                        <a:t>Te=ጠ  Ce=ጨ  Pe=ጰ</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Rare similar-sounding letter</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Double the lowercase key</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ourier New" pitchFamily="34" charset="0"/>
                          <a:ea typeface="Courier New" pitchFamily="34" charset="-122"/>
                          <a:cs typeface="Courier New" pitchFamily="34" charset="-120"/>
                        </a:rPr>
                        <a:t>sse=ሠ  SSe=ፀ</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184">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Rounded-lip letter</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consonant + u + extra vowel</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ourier New" pitchFamily="34" charset="0"/>
                          <a:ea typeface="Courier New" pitchFamily="34" charset="-122"/>
                          <a:cs typeface="Courier New" pitchFamily="34" charset="-120"/>
                        </a:rPr>
                        <a:t>mua=ሟ  gua=ጓ</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Bare consonant + vowel</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Insert apostrophe ' between</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ourier New" pitchFamily="34" charset="0"/>
                          <a:ea typeface="Courier New" pitchFamily="34" charset="-122"/>
                          <a:cs typeface="Courier New" pitchFamily="34" charset="-120"/>
                        </a:rPr>
                        <a:t>gebr'iel=ገብርኤል</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9184">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Literal apostrophe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Type '' (double apostrophe)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ourier New" pitchFamily="34" charset="0"/>
                          <a:ea typeface="Courier New" pitchFamily="34" charset="-122"/>
                          <a:cs typeface="Courier New" pitchFamily="34" charset="-120"/>
                        </a:rPr>
                        <a:t>k''='</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9184">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Ethiopic numeral</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 + number</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ourier New" pitchFamily="34" charset="0"/>
                          <a:ea typeface="Courier New" pitchFamily="34" charset="-122"/>
                          <a:cs typeface="Courier New" pitchFamily="34" charset="-120"/>
                        </a:rPr>
                        <a:t>#1=፩  #10=፲  #100=፻</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29184">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Literal # before number</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Type ## (double hash)</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ourier New" pitchFamily="34" charset="0"/>
                          <a:ea typeface="Courier New" pitchFamily="34" charset="-122"/>
                          <a:cs typeface="Courier New" pitchFamily="34" charset="-120"/>
                        </a:rPr>
                        <a:t>##=#</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29184">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Ethiopic punctuation</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1A1A2A"/>
                          </a:solidFill>
                          <a:latin typeface="Calibri" pitchFamily="34" charset="0"/>
                          <a:ea typeface="Calibri" pitchFamily="34" charset="-122"/>
                          <a:cs typeface="Calibri" pitchFamily="34" charset="-120"/>
                        </a:rPr>
                        <a:t>Type similar key twice+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ourier New" pitchFamily="34" charset="0"/>
                          <a:ea typeface="Courier New" pitchFamily="34" charset="-122"/>
                          <a:cs typeface="Courier New" pitchFamily="34" charset="-120"/>
                        </a:rPr>
                        <a:t>::.=  :=  ,=  &lt;&lt;=«</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Keyman Requirement">
    <p:bg>
      <p:bgPr>
        <a:solidFill>
          <a:srgbClr val="1A1A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A4A7A"/>
          </a:solidFill>
          <a:ln w="12700">
            <a:solidFill>
              <a:srgbClr val="1A4A7A"/>
            </a:solidFill>
            <a:prstDash val="solid"/>
          </a:ln>
        </p:spPr>
        <p:txBody>
          <a:bodyPr/>
          <a:lstStyle/>
          <a:p>
            <a:endParaRPr lang="en-US"/>
          </a:p>
        </p:txBody>
      </p:sp>
      <p:sp>
        <p:nvSpPr>
          <p:cNvPr id="3" name="Shape 1"/>
          <p:cNvSpPr/>
          <p:nvPr/>
        </p:nvSpPr>
        <p:spPr>
          <a:xfrm>
            <a:off x="164592" y="868680"/>
            <a:ext cx="8778240" cy="54864"/>
          </a:xfrm>
          <a:prstGeom prst="rect">
            <a:avLst/>
          </a:prstGeom>
          <a:solidFill>
            <a:srgbClr val="FCDC12"/>
          </a:solidFill>
          <a:ln w="12700">
            <a:solidFill>
              <a:srgbClr val="FCDC12"/>
            </a:solidFill>
            <a:prstDash val="solid"/>
          </a:ln>
        </p:spPr>
        <p:txBody>
          <a:bodyPr/>
          <a:lstStyle/>
          <a:p>
            <a:endParaRPr lang="en-US"/>
          </a:p>
        </p:txBody>
      </p:sp>
      <p:sp>
        <p:nvSpPr>
          <p:cNvPr id="4" name="Title"/>
          <p:cNvSpPr/>
          <p:nvPr/>
        </p:nvSpPr>
        <p:spPr>
          <a:xfrm>
            <a:off x="347472" y="182880"/>
            <a:ext cx="8600000" cy="640000"/>
          </a:xfrm>
          <a:prstGeom prst="rect">
            <a:avLst/>
          </a:prstGeom>
          <a:noFill/>
          <a:ln/>
        </p:spPr>
        <p:txBody>
          <a:bodyPr wrap="square" rtlCol="0" anchor="ctr"/>
          <a:lstStyle/>
          <a:p>
            <a:pPr marL="0" indent="0" algn="l">
              <a:buNone/>
            </a:pPr>
            <a:r>
              <a:rPr lang="en-US" sz="2800" b="1" dirty="0">
                <a:solidFill>
                  <a:srgbClr val="FFFFFF"/>
                </a:solidFill>
                <a:latin typeface="Georgia" pitchFamily="34" charset="0"/>
              </a:rPr>
              <a:t>Keyman: A Required Component</a:t>
            </a:r>
          </a:p>
        </p:txBody>
      </p:sp>
      <p:sp>
        <p:nvSpPr>
          <p:cNvPr id="5" name="LeftColumn"/>
          <p:cNvSpPr/>
          <p:nvPr/>
        </p:nvSpPr>
        <p:spPr>
          <a:xfrm>
            <a:off x="347472" y="990600"/>
            <a:ext cx="4100000" cy="3900000"/>
          </a:xfrm>
          <a:prstGeom prst="rect">
            <a:avLst/>
          </a:prstGeom>
          <a:solidFill>
            <a:srgbClr val="1A2A4A"/>
          </a:solidFill>
          <a:ln w="12700">
            <a:solidFill>
              <a:srgbClr val="1A4A7A"/>
            </a:solidFill>
            <a:prstDash val="solid"/>
          </a:ln>
        </p:spPr>
        <p:txBody>
          <a:bodyPr wrap="square" rtlCol="0" anchor="t" lIns="180000" rIns="180000" tIns="180000" bIns="180000"/>
          <a:lstStyle/>
          <a:p>
            <a:pPr marL="0" indent="0" algn="l">
              <a:buNone/>
            </a:pPr>
            <a:r>
              <a:rPr lang="en-US" sz="1500" b="1" dirty="0">
                <a:solidFill>
                  <a:srgbClr val="FCDC12"/>
                </a:solidFill>
                <a:latin typeface="Georgia" pitchFamily="34" charset="0"/>
              </a:rPr>
              <a:t>Why Keyman?</a:t>
            </a:r>
          </a:p>
          <a:p>
            <a:pPr marL="0" indent="0" algn="l">
              <a:buNone/>
            </a:pPr>
            <a:r>
              <a:rPr lang="en-US" sz="1200" dirty="0">
                <a:solidFill>
                  <a:srgbClr val="F8F8F4"/>
                </a:solidFill>
                <a:latin typeface="Calibri" pitchFamily="34" charset="0"/>
              </a:rPr>
              <a:t>Amharic Typing Games uses Keyman to enable Amharic text input on your device. Without it, the app cannot convert your keystrokes into Amharic (Ethiopic) script.</a:t>
            </a:r>
          </a:p>
          <a:p>
            <a:pPr marL="0" indent="0" algn="l">
              <a:buNone/>
            </a:pPr>
            <a:endParaRPr lang="en-US" sz="1200" dirty="0"/>
          </a:p>
          <a:p>
            <a:pPr marL="0" indent="0" algn="l">
              <a:buNone/>
            </a:pPr>
            <a:r>
              <a:rPr lang="en-US" sz="1500" b="1" dirty="0">
                <a:solidFill>
                  <a:srgbClr val="FCDC12"/>
                </a:solidFill>
                <a:latin typeface="Georgia" pitchFamily="34" charset="0"/>
              </a:rPr>
              <a:t>Already installed?</a:t>
            </a:r>
          </a:p>
          <a:p>
            <a:pPr marL="0" indent="0" algn="l">
              <a:buNone/>
            </a:pPr>
            <a:r>
              <a:rPr lang="en-US" sz="1200" dirty="0">
                <a:solidFill>
                  <a:srgbClr val="F8F8F4"/>
                </a:solidFill>
                <a:latin typeface="Calibri" pitchFamily="34" charset="0"/>
              </a:rPr>
              <a:t>Most likely yes! When you installed Amharic Typing Games, Keyman and the Amharic keyboard package should have been set up automatically alongside the app.</a:t>
            </a:r>
          </a:p>
        </p:txBody>
      </p:sp>
      <p:sp>
        <p:nvSpPr>
          <p:cNvPr id="6" name="RightColumn"/>
          <p:cNvSpPr/>
          <p:nvPr/>
        </p:nvSpPr>
        <p:spPr>
          <a:xfrm>
            <a:off x="4600000" y="990600"/>
            <a:ext cx="4350000" cy="3900000"/>
          </a:xfrm>
          <a:prstGeom prst="rect">
            <a:avLst/>
          </a:prstGeom>
          <a:solidFill>
            <a:srgbClr val="111222"/>
          </a:solidFill>
          <a:ln w="12700">
            <a:solidFill>
              <a:srgbClr val="1A4A7A"/>
            </a:solidFill>
            <a:prstDash val="solid"/>
          </a:ln>
        </p:spPr>
        <p:txBody>
          <a:bodyPr wrap="square" rtlCol="0" anchor="t" lIns="180000" rIns="180000" tIns="180000" bIns="180000"/>
          <a:lstStyle/>
          <a:p>
            <a:pPr marL="0" indent="0" algn="l">
              <a:buNone/>
            </a:pPr>
            <a:r>
              <a:rPr lang="en-US" sz="1500" b="1" dirty="0">
                <a:solidFill>
                  <a:srgbClr val="FCDC12"/>
                </a:solidFill>
                <a:latin typeface="Georgia" pitchFamily="34" charset="0"/>
              </a:rPr>
              <a:t>What to do next</a:t>
            </a:r>
          </a:p>
          <a:p>
            <a:pPr marL="0" indent="0" algn="l">
              <a:buNone/>
            </a:pPr>
            <a:r>
              <a:rPr lang="en-US" sz="1200" b="1" dirty="0">
                <a:solidFill>
                  <a:srgbClr val="1A5A9A"/>
                </a:solidFill>
                <a:latin typeface="Calibri" pitchFamily="34" charset="0"/>
              </a:rPr>
              <a:t xml:space="preserve">Step 1: </a:t>
            </a:r>
            <a:r>
              <a:rPr lang="en-US" sz="1200" dirty="0">
                <a:solidFill>
                  <a:srgbClr val="F8F8F4"/>
                </a:solidFill>
                <a:latin typeface="Calibri" pitchFamily="34" charset="0"/>
              </a:rPr>
              <a:t>Check if Keyman is installed (see next slide)</a:t>
            </a:r>
          </a:p>
          <a:p>
            <a:pPr marL="0" indent="0" algn="l">
              <a:buNone/>
            </a:pPr>
            <a:endParaRPr lang="en-US" sz="1200" dirty="0"/>
          </a:p>
          <a:p>
            <a:pPr marL="0" indent="0" algn="l">
              <a:buNone/>
            </a:pPr>
            <a:r>
              <a:rPr lang="en-US" sz="1200" b="1" dirty="0">
                <a:solidFill>
                  <a:srgbClr val="1A5A9A"/>
                </a:solidFill>
                <a:latin typeface="Calibri" pitchFamily="34" charset="0"/>
              </a:rPr>
              <a:t xml:space="preserve">Step 2: </a:t>
            </a:r>
            <a:r>
              <a:rPr lang="en-US" sz="1200" dirty="0">
                <a:solidFill>
                  <a:srgbClr val="F8F8F4"/>
                </a:solidFill>
                <a:latin typeface="Calibri" pitchFamily="34" charset="0"/>
              </a:rPr>
              <a:t>If missing, install Keyman with the Amharic keyboard package (instructions on the following slide)</a:t>
            </a:r>
          </a:p>
          <a:p>
            <a:pPr marL="0" indent="0" algn="l">
              <a:buNone/>
            </a:pPr>
            <a:endParaRPr lang="en-US" sz="1200" dirty="0"/>
          </a:p>
          <a:p>
            <a:pPr marL="0" indent="0" algn="l">
              <a:buNone/>
            </a:pPr>
            <a:r>
              <a:rPr lang="en-US" sz="1200" b="1" dirty="0">
                <a:solidFill>
                  <a:srgbClr val="1A5A9A"/>
                </a:solidFill>
                <a:latin typeface="Calibri" pitchFamily="34" charset="0"/>
              </a:rPr>
              <a:t xml:space="preserve">Step 3: </a:t>
            </a:r>
            <a:r>
              <a:rPr lang="en-US" sz="1200" dirty="0">
                <a:solidFill>
                  <a:srgbClr val="F8F8F4"/>
                </a:solidFill>
                <a:latin typeface="Calibri" pitchFamily="34" charset="0"/>
              </a:rPr>
              <a:t>Return to Amharic Typing Games and start playing!</a:t>
            </a:r>
          </a:p>
          <a:p>
            <a:pPr marL="0" indent="0" algn="l">
              <a:buNone/>
            </a:pPr>
            <a:endParaRPr lang="en-US" sz="1200" dirty="0"/>
          </a:p>
          <a:p>
            <a:pPr marL="0" indent="0" algn="l">
              <a:buNone/>
            </a:pPr>
            <a:r>
              <a:rPr lang="en-US" sz="1100" i="1" dirty="0">
                <a:solidFill>
                  <a:srgbClr val="8899BB"/>
                </a:solidFill>
                <a:latin typeface="Calibri" pitchFamily="34" charset="0"/>
              </a:rPr>
              <a:t>Tip: If Keyman was already present when you first launched the app, you’re all set — go straight to the verification step.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2063</Words>
  <Application>Microsoft Office PowerPoint</Application>
  <PresentationFormat>On-screen Show (16:9)</PresentationFormat>
  <Paragraphs>984</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Adam Asteway</cp:lastModifiedBy>
  <cp:revision>5</cp:revision>
  <dcterms:created xsi:type="dcterms:W3CDTF">2026-05-17T06:23:59Z</dcterms:created>
  <dcterms:modified xsi:type="dcterms:W3CDTF">2026-05-17T06:57:59Z</dcterms:modified>
</cp:coreProperties>
</file>