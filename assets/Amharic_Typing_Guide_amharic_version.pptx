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9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73" r:id="rId24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Relationship Id="rId24" Type="http://schemas.openxmlformats.org/officeDocument/2006/relationships/slide" Target="slides/slide19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4962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2011680"/>
            <a:ext cx="8778240" cy="54864"/>
          </a:xfrm>
          <a:prstGeom prst="rect">
            <a:avLst/>
          </a:prstGeom>
          <a:solidFill>
            <a:srgbClr val="FCDC12"/>
          </a:solidFill>
          <a:ln w="12700">
            <a:solidFill>
              <a:srgbClr val="FCD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488717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የአማርኛ ማስተዋወቂያ ጨዋታዎች - ሙሉ መመሪያ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FCD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አማርኛ በኮምፒዩተር ለመፃፍ ተግባራዊ መምሪያ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78892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Keyman ን ጀምሩ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፩. ቁልፍ ሰሌዳው እንዴት እንደሚሠራ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፪. አራቱ የፅሁፍ ደንቦች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፫. ሙሉ የፊደል ማጣቀሻ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፬. ከንፈር-ክብ ፊደሎች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፭. የኢትዮጵያ ቁጥሮች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፮. የሥርዓተ ነጥብ ምልክቶች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፯. ፈጣን ማጣቀሻ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Keyman ን ጀምሩ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Keyman ማናቸውም መደበኛ ቁልፍ ሰሌዳ ላይ አማርኛ እንዲጽፉ የሚያስችል ነጻ የግቤት አስተዳዳሪ ነው። አማርኛ ታይፒንግ ጌምስ በራስ-ሰር ሊጭነው ይገባ ነበር።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55448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4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Keyman መጫኑን እንዴት ማረጋገጥ ይቻላል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874520"/>
          <a:ext cx="8412480" cy="201168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ስርዓተ ክወና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የት ማየት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ምን ሊታይ ይገባ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የስርዓት ትሬይ (የተግባር አሞሌ ታች-ቀኝ ጥግ)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በማሳወቂያ ቦታ "K" አዶ ይኖራል። ያንን ጠቅ ያድርጉ።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የምናሌ አሞሌ (ማያ ገጽ ላይ-ቀኝ)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የባንዲራ ወይም የቋንቋ አዶ ይኖራል። System Settings &gt; Keyboard &gt; Input Sources ን ክፍቱና "Amharic (Keyman)" ን ይፈልጉ።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Linux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የቁልፍ ሰሌዳ ፓናል ወይም ተርሚናል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ተርሚናል ውስጥ keyman --version ያሂዱ። ቁጥር ከታየ ተጭኗል ማለት ነው።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ማንኛውም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ማንኛውም የጽሑፍ አርታዒ ይክፈቱ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ወደ አማርኛ ቁልፍ ሰሌዳ ቀይረው "se" ይፃፉ — ሰ ሊታይ ይገባ።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3977640"/>
            <a:ext cx="8412480" cy="502920"/>
          </a:xfrm>
          <a:prstGeom prst="rect">
            <a:avLst/>
          </a:prstGeom>
          <a:solidFill>
            <a:srgbClr val="D6E0EC"/>
          </a:solidFill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ምክር፡ አፑን ሲጀምሩ የጭነት ማሳወቂያ ካዩ Keyman ምናልባት ቀድሞ ተዘጋጅቷል። ወደ ማረጋገጫ ደረጃ ቀጥታ ይሂዱ።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Keyman መጫን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62179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Keyman ካልተጫነ እነዚህን ደረጃዎች ይከተሉ፦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292608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ደረጃ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ተግባሩ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keyman.com ን ድረ-ገጽ ይጎብኙ፤ Download Keyman ቁልፍ ጠቅ ያድርጉ። ድረ-ገጹ ስርዓተ ክወናዎን ራሱ ያለ ይለያል።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ጫኚውን ያሂዱ፤ በማያ ገጹ ላይ ያሉ መመሪያዎችን ይከተሉ። Windows እና macOS ላይ የአስተዳዳሪ ፈቃድ ሊያስፈልጋቸው ይችላል።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ከጫኑ በኋላ Keyman Configuration ን ይክፈቱ (ከስርዓት ትሬይ ወይም ከምናሌ አዶ)። Keyboard Layouts ሄደው አማርኛ ይፈልጉ።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የአማርኛ ቁልፍ ሰሌዳ ጥቅሉ አጠገብ Install ን ጠቅ ያድርጉ፤ ያረጋግጡ። Keyman ያወርደዋልና ያነቃዋል።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አማርኛ ታይፒንግ ጌምስ አፑን ዳግም ያስነሱ። ቁልፍ ሰሌዳዎ ዝግጁ ነው — selam ይጻፉ እና ሰላም ሲወጣ ይጠብቁ!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023360"/>
            <a:ext cx="8412480" cy="594360"/>
          </a:xfrm>
          <a:prstGeom prst="rect">
            <a:avLst/>
          </a:prstGeom>
          <a:solidFill>
            <a:srgbClr val="FFF3CC"/>
          </a:solidFill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አሁንም አልሠራም? ከመፃፍዎ በፊት Keyman ውስጥ አማርኛ ቁልፍ ሰሌዳ መምረጥዎን ያረጋግጡ። Keyman አዶ ጠቅ ያድርጉ፤ አማርኛ ይምረጡ። አንዳንድ ስርዓቶች ጀምሮ ከጫኑ በኋላ ዳግም መግባት ሊያስፈልጋቸው ይችላል።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፩. የ Keyman አማርኛ ቁልፍ ሰሌዳ እንዴት እንደሚሠራ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የ Keyman አማርኛ ቁልፍ ሰሌዳ ፎነቲክ ሥርዓት ይጠቀማል — የአማርኛ ቃላት ድምጽ ሆሄያቱን በእንግሊዝኛ ፊደሎች ይጽፋሉ፣ ቁልፍ ሰሌዳውም ወደ ትክክለኛ አማርኛ (ግዕዝ) ፊደሎች ይቀይረዋል።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8412480" cy="658368"/>
          </a:xfrm>
          <a:prstGeom prst="rect">
            <a:avLst/>
          </a:prstGeom>
          <a:solidFill>
            <a:srgbClr val="D6E0EC"/>
          </a:solidFill>
          <a:ln w="12700">
            <a:solidFill>
              <a:srgbClr val="4A6A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selam  →  </a:t>
            </a:r>
            <a:r>
              <a:rPr lang="en-US" sz="22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ሰላም</a:t>
            </a:r>
            <a:r>
              <a:rPr lang="en-US" sz="15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ሰላም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205740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4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ሰባቱ ዓይነቶች — በ M ፊደሉ ምሳሌ፦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377440"/>
          <a:ext cx="8412480" cy="240792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ዓይነት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ስም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የአናባቢ ድምፅ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ይፃፉ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ውጤቱ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፩ኛ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ግዕዝ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–e– (እንደ "መ")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መ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፪ኛ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ካዕብ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–u– (እንደ "ሙ")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ሙ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፫ኛ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ሣልስ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–i– (እንደ "ሚ")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ሚ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፬ኛ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ራብዕ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–a– (እንደ "ማ")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ማ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፭ኛ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ኃምስ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–ie– (እንደ "ሜ")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ሜ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፮ኛ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ሳድስ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አናባቢ የለም (ዘርፍ)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ም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፯ኛ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ሳብዕ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–o– (እንደ "ሞ")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ሞ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65760" y="48006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6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ጠቃሚ ምክር፦ 6ኛ ዓይነት ተነባቢ ብቻ ነው — አናባቢ የለም።   m = ም   s = ስ   b = ብ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፪. አራቱ የፅሁፍ ደንቦች (ደንብ ፩ እና ፪)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31519"/>
            <a:ext cx="54864" cy="2193264"/>
          </a:xfrm>
          <a:prstGeom prst="rect">
            <a:avLst/>
          </a:prstGeom>
          <a:solidFill>
            <a:srgbClr val="FCDC12"/>
          </a:solidFill>
          <a:ln w="12700">
            <a:solidFill>
              <a:srgbClr val="FCD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72237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ደንብ ፩ — አጽንዖታዊ ድምፆች - ትልቅ ፊደሎች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069848"/>
            <a:ext cx="8229600" cy="1928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አንዳንድ አማርኛ ድምፆች ከእንግሊዝኛ ድምፆች የበለጠ ጠንካሮች ናቸው። ለነዚህ ትልቅ (CAPITAL) ፊደሎችን ይጠቀሙ።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056668"/>
              </p:ext>
            </p:extLst>
          </p:nvPr>
        </p:nvGraphicFramePr>
        <p:xfrm>
          <a:off x="548640" y="1317514"/>
          <a:ext cx="8046720" cy="149352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ይፃፉ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ውጤቱ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ማስታወሻ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ጠ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አጽንዖታዊ T — 1ኛ ዓይነት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Tu / Ti / Ta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ጡ / ጢ / ጣ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ሌሎች ዓይነቶች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ጥ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6ኛ ዓይነት (አናባቢ የለም)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TienaysTlN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ጤናይስጥልኝ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"ጤናይስጥልኝ" (ቅርብ ጓደኛ)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3102086"/>
            <a:ext cx="54864" cy="1828800"/>
          </a:xfrm>
          <a:prstGeom prst="rect">
            <a:avLst/>
          </a:prstGeom>
          <a:solidFill>
            <a:srgbClr val="E03030"/>
          </a:solidFill>
          <a:ln w="12700">
            <a:solidFill>
              <a:srgbClr val="E0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48640" y="310208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ደንብ ፪ — ያልተለመዱ ድምፆች - ፊደሎችን ሁለት ጊዜ ይፃፉ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330325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ለሚለዩ ድምፆች ተመሳሳይ ቁልፍ ሁለት ጊዜ ይጫኑ። ትልቁ ፊደሉ የፈለጉትን ካልሰጠ ሁለቴ ይሞክሩ።</a:t>
            </a:r>
            <a:endParaRPr lang="en-US" sz="12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4570522"/>
              </p:ext>
            </p:extLst>
          </p:nvPr>
        </p:nvGraphicFramePr>
        <p:xfrm>
          <a:off x="548640" y="3654682"/>
          <a:ext cx="8046720" cy="118872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ይፃፉ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ውጤቱ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ማስታወሻ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መደበኛ 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sse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ሠ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ያልተለመደ ሠ (ጥንታዊ ፊደሉ)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SSe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ፀ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ሁለቴ አቢይ (ምሳሌ ፀሐይ — ፀ: SSeHey)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፪. አራቱ የፅሁፍ ደንቦች (ደንብ ፫ እና ፬)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31519"/>
            <a:ext cx="54864" cy="2043651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67591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ደንብ ፫ — ላቢዮቬላር ፊደሎች - ከ u በኋላ ተጨማሪ አናባቢ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929964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አንዳንድ አማርኛ ፊደሎች ክብ ከንፈሮች ያላቸው ናቸው (እንደ w)። ይፃፉ፦ ተነባቢ + u + ተጨማሪ አናባቢ።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6275870"/>
              </p:ext>
            </p:extLst>
          </p:nvPr>
        </p:nvGraphicFramePr>
        <p:xfrm>
          <a:off x="548640" y="1233370"/>
          <a:ext cx="8046720" cy="149352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82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ይፃፉ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ውጤቱ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ትርጓሜ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95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mua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ሟ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 + ክብ ከንፈሮች + 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95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gua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 + ክብ ከንፈሮች + 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695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guie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 + ክብ ከንፈሮች + IE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695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kua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ኳ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+ ክብ ከንፈሮች + 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65760" y="2983149"/>
            <a:ext cx="54864" cy="2043651"/>
          </a:xfrm>
          <a:prstGeom prst="rect">
            <a:avLst/>
          </a:prstGeom>
          <a:solidFill>
            <a:srgbClr val="4A6A9E"/>
          </a:solidFill>
          <a:ln w="12700">
            <a:solidFill>
              <a:srgbClr val="4A6A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03244" y="2813887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ደንብ ፬ — አፖስትሮፊ - 6ኛ ዓይነትን ከአናባቢ ለመለየት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3244" y="3070373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ብዙ ጊዜ ከተነባቢ በኋላ አናባቢ ሲፃፍ ወደ ጥምር ፊደሉ ይቀየራል። ዘርፍ ተነባቢ ከአናባቢ ጋር እንዳይጣመር አፖስትሮፊ (') ያስገቡ።</a:t>
            </a:r>
            <a:endParaRPr lang="en-US" sz="12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6097482"/>
              </p:ext>
            </p:extLst>
          </p:nvPr>
        </p:nvGraphicFramePr>
        <p:xfrm>
          <a:off x="548640" y="3533280"/>
          <a:ext cx="8046720" cy="149352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ይፃፉ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ውጤቱ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ትርጉም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gebr'iel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ገብርኤል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"ገብርኤል"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m'eeraf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ምዕራፍ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"ምዕራፍ / ምዕራብ"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mel'ak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መልአክ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"መልአክ"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k''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ክ'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ቀጥተኛ አፖስትሮፊ — '' (ሁለት አፖስትሮፊ) ይፃፉ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፫. ሙሉ የፊደል ማጣቀሻ (1/7)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3" y="604769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ሆይ (h)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1291184"/>
              </p:ext>
            </p:extLst>
          </p:nvPr>
        </p:nvGraphicFramePr>
        <p:xfrm>
          <a:off x="274320" y="877469"/>
          <a:ext cx="8595363" cy="822960"/>
        </p:xfrm>
        <a:graphic>
          <a:graphicData uri="http://schemas.openxmlformats.org/drawingml/2006/table">
            <a:tbl>
              <a:tblPr/>
              <a:tblGrid>
                <a:gridCol w="1227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፩ኛ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፪ኛ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፫ኛ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፬ኛ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፭ኛ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፮ኛ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፯ኛ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ሀ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ሁ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ሃ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ሄ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ህ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ሆ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hu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hi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hie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173736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ላዊ (l)</a:t>
            </a:r>
            <a:endParaRPr lang="en-US" sz="13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993392"/>
          <a:ext cx="8595363" cy="822960"/>
        </p:xfrm>
        <a:graphic>
          <a:graphicData uri="http://schemas.openxmlformats.org/drawingml/2006/table">
            <a:tbl>
              <a:tblPr/>
              <a:tblGrid>
                <a:gridCol w="1227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፩ኛ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፪ኛ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፫ኛ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፬ኛ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፭ኛ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፮ኛ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፯ኛ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ለ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ሉ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ሊ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ል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ሎ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lu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274320" y="279375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ሐውት (H)</a:t>
            </a:r>
            <a:endParaRPr lang="en-US" sz="13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1234017"/>
              </p:ext>
            </p:extLst>
          </p:nvPr>
        </p:nvGraphicFramePr>
        <p:xfrm>
          <a:off x="274320" y="3050853"/>
          <a:ext cx="8595363" cy="822960"/>
        </p:xfrm>
        <a:graphic>
          <a:graphicData uri="http://schemas.openxmlformats.org/drawingml/2006/table">
            <a:tbl>
              <a:tblPr/>
              <a:tblGrid>
                <a:gridCol w="1227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፩ኛ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፪ኛ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፫ኛ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፬ኛ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፭ኛ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፮ኛ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፯ኛ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ሑ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ሒ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ሕ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ሖ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Hu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Hi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Hie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274320" y="3894079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ማይ (m)</a:t>
            </a:r>
            <a:endParaRPr lang="en-US" sz="1300" dirty="0"/>
          </a:p>
        </p:txBody>
      </p:sp>
      <p:graphicFrame>
        <p:nvGraphicFramePr>
          <p:cNvPr id="29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6138148"/>
              </p:ext>
            </p:extLst>
          </p:nvPr>
        </p:nvGraphicFramePr>
        <p:xfrm>
          <a:off x="274317" y="4160520"/>
          <a:ext cx="8595363" cy="822960"/>
        </p:xfrm>
        <a:graphic>
          <a:graphicData uri="http://schemas.openxmlformats.org/drawingml/2006/table">
            <a:tbl>
              <a:tblPr/>
              <a:tblGrid>
                <a:gridCol w="1227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፩ኛ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፪ኛ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፫ኛ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፬ኛ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፭ኛ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፮ኛ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፯ኛ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መ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ሙ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ሚ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ማ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ሜ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ም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ሞ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mu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mi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mie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፫. ሙሉ የፊደል ማጣቀሻ (2/7)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3" y="596954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ርእስ (r)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5469359"/>
              </p:ext>
            </p:extLst>
          </p:nvPr>
        </p:nvGraphicFramePr>
        <p:xfrm>
          <a:off x="274320" y="884212"/>
          <a:ext cx="8595363" cy="822960"/>
        </p:xfrm>
        <a:graphic>
          <a:graphicData uri="http://schemas.openxmlformats.org/drawingml/2006/table">
            <a:tbl>
              <a:tblPr/>
              <a:tblGrid>
                <a:gridCol w="1227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፩ኛ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፪ኛ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፫ኛ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፬ኛ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፭ኛ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፮ኛ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፯ኛ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ረ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ሪ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ራ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ሬ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ር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ሮ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ru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ri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rie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173736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ሳት (s)</a:t>
            </a:r>
            <a:endParaRPr lang="en-US" sz="13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993392"/>
          <a:ext cx="8595363" cy="822960"/>
        </p:xfrm>
        <a:graphic>
          <a:graphicData uri="http://schemas.openxmlformats.org/drawingml/2006/table">
            <a:tbl>
              <a:tblPr/>
              <a:tblGrid>
                <a:gridCol w="1227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፩ኛ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፪ኛ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፫ኛ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፬ኛ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፭ኛ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፮ኛ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፯ኛ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ሱ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ሲ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ሳ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ሴ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ሶ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 5"/>
          <p:cNvSpPr/>
          <p:nvPr/>
        </p:nvSpPr>
        <p:spPr>
          <a:xfrm>
            <a:off x="274317" y="2830814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ሻ-ሳት (x)</a:t>
            </a:r>
            <a:endParaRPr lang="en-US" sz="1300" dirty="0"/>
          </a:p>
        </p:txBody>
      </p:sp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9368464"/>
              </p:ext>
            </p:extLst>
          </p:nvPr>
        </p:nvGraphicFramePr>
        <p:xfrm>
          <a:off x="274320" y="3078156"/>
          <a:ext cx="8595363" cy="822960"/>
        </p:xfrm>
        <a:graphic>
          <a:graphicData uri="http://schemas.openxmlformats.org/drawingml/2006/table">
            <a:tbl>
              <a:tblPr/>
              <a:tblGrid>
                <a:gridCol w="1227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፩ኛ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፪ኛ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፫ኛ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፬ኛ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፭ኛ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፮ኛ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፯ኛ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ሹ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ሺ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ሻ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ሼ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ሽ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ሾ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xu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xi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xie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274317" y="390448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ቃፍ (q)</a:t>
            </a:r>
            <a:endParaRPr lang="en-US" sz="1300" dirty="0"/>
          </a:p>
        </p:txBody>
      </p:sp>
      <p:graphicFrame>
        <p:nvGraphicFramePr>
          <p:cNvPr id="3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2488745"/>
              </p:ext>
            </p:extLst>
          </p:nvPr>
        </p:nvGraphicFramePr>
        <p:xfrm>
          <a:off x="274317" y="4160520"/>
          <a:ext cx="8595363" cy="822960"/>
        </p:xfrm>
        <a:graphic>
          <a:graphicData uri="http://schemas.openxmlformats.org/drawingml/2006/table">
            <a:tbl>
              <a:tblPr/>
              <a:tblGrid>
                <a:gridCol w="1227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፩ኛ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፪ኛ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፫ኛ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፬ኛ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፭ኛ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፮ኛ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፯ኛ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ቀ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ቁ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ቃ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ቄ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ቅ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ቆ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qu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qi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qie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፫. ሙሉ የፊደል ማጣቀሻ (3/7)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3" y="59436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ቬ-ቤት (v)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2284545"/>
              </p:ext>
            </p:extLst>
          </p:nvPr>
        </p:nvGraphicFramePr>
        <p:xfrm>
          <a:off x="274323" y="882396"/>
          <a:ext cx="8595363" cy="822960"/>
        </p:xfrm>
        <a:graphic>
          <a:graphicData uri="http://schemas.openxmlformats.org/drawingml/2006/table">
            <a:tbl>
              <a:tblPr/>
              <a:tblGrid>
                <a:gridCol w="1227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፩ኛ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፪ኛ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፫ኛ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፬ኛ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፭ኛ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፮ኛ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፯ኛ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ቨ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ቪ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ቫ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ቬ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ቭ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ቮ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vu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vi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vie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173736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ታው (t)</a:t>
            </a:r>
            <a:endParaRPr lang="en-US" sz="13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9398125"/>
              </p:ext>
            </p:extLst>
          </p:nvPr>
        </p:nvGraphicFramePr>
        <p:xfrm>
          <a:off x="274323" y="2038486"/>
          <a:ext cx="8595363" cy="822960"/>
        </p:xfrm>
        <a:graphic>
          <a:graphicData uri="http://schemas.openxmlformats.org/drawingml/2006/table">
            <a:tbl>
              <a:tblPr/>
              <a:tblGrid>
                <a:gridCol w="1227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፩ኛ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፪ኛ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፫ኛ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፬ኛ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፭ኛ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፮ኛ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፯ኛ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ቱ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ቲ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ታ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ቴ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ቶ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tu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274320" y="286739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ቻ-ታው (c)</a:t>
            </a:r>
            <a:endParaRPr lang="en-US" sz="1300" dirty="0"/>
          </a:p>
        </p:txBody>
      </p:sp>
      <p:graphicFrame>
        <p:nvGraphicFramePr>
          <p:cNvPr id="2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9273856"/>
              </p:ext>
            </p:extLst>
          </p:nvPr>
        </p:nvGraphicFramePr>
        <p:xfrm>
          <a:off x="274320" y="3126535"/>
          <a:ext cx="8595363" cy="822960"/>
        </p:xfrm>
        <a:graphic>
          <a:graphicData uri="http://schemas.openxmlformats.org/drawingml/2006/table">
            <a:tbl>
              <a:tblPr/>
              <a:tblGrid>
                <a:gridCol w="1227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፩ኛ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፪ኛ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፫ኛ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፬ኛ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፭ኛ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፮ኛ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፯ኛ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ቹ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ቺ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ቻ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ቼ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ች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ቾ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cu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ci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cie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274317" y="3961384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ኀርም (hh)</a:t>
            </a:r>
            <a:endParaRPr lang="en-US" sz="1300" dirty="0"/>
          </a:p>
        </p:txBody>
      </p:sp>
      <p:graphicFrame>
        <p:nvGraphicFramePr>
          <p:cNvPr id="3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392484"/>
              </p:ext>
            </p:extLst>
          </p:nvPr>
        </p:nvGraphicFramePr>
        <p:xfrm>
          <a:off x="274320" y="4217416"/>
          <a:ext cx="8595363" cy="822960"/>
        </p:xfrm>
        <a:graphic>
          <a:graphicData uri="http://schemas.openxmlformats.org/drawingml/2006/table">
            <a:tbl>
              <a:tblPr/>
              <a:tblGrid>
                <a:gridCol w="1227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፩ኛ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፪ኛ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፫ኛ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፬ኛ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፭ኛ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፮ኛ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፯ኛ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ኀ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ኁ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ኃ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ኄ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ኅ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ኆ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hhe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hhu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hhi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hha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hhie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hh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hho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፫. ሙሉ የፊደል ማጣቀሻ (፬/፯)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8750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ኛ-ነሐስ (N)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7031312"/>
              </p:ext>
            </p:extLst>
          </p:nvPr>
        </p:nvGraphicFramePr>
        <p:xfrm>
          <a:off x="274320" y="843534"/>
          <a:ext cx="8595363" cy="822960"/>
        </p:xfrm>
        <a:graphic>
          <a:graphicData uri="http://schemas.openxmlformats.org/drawingml/2006/table">
            <a:tbl>
              <a:tblPr/>
              <a:tblGrid>
                <a:gridCol w="1227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፩ኛ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፪ኛ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፫ኛ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፬ኛ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፭ኛ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፮ኛ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፯ኛ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ኘ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ኙ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ኚ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ኛ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ኜ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ኝ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ኞ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Ni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Nie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1674495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አልፍ (a)</a:t>
            </a:r>
            <a:endParaRPr lang="en-US" sz="13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8967555"/>
              </p:ext>
            </p:extLst>
          </p:nvPr>
        </p:nvGraphicFramePr>
        <p:xfrm>
          <a:off x="274320" y="1941386"/>
          <a:ext cx="8595363" cy="822960"/>
        </p:xfrm>
        <a:graphic>
          <a:graphicData uri="http://schemas.openxmlformats.org/drawingml/2006/table">
            <a:tbl>
              <a:tblPr/>
              <a:tblGrid>
                <a:gridCol w="1227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፩ኛ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፪ኛ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፫ኛ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፬ኛ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፭ኛ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፮ኛ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፯ኛ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አ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ኡ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ኢ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ኣ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ኤ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እ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ኦ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aaaa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274320" y="27432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ካፍ (k)</a:t>
            </a:r>
            <a:endParaRPr lang="en-US" sz="1300" dirty="0"/>
          </a:p>
        </p:txBody>
      </p:sp>
      <p:graphicFrame>
        <p:nvGraphicFramePr>
          <p:cNvPr id="31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9622619"/>
              </p:ext>
            </p:extLst>
          </p:nvPr>
        </p:nvGraphicFramePr>
        <p:xfrm>
          <a:off x="274320" y="3015234"/>
          <a:ext cx="8595363" cy="822960"/>
        </p:xfrm>
        <a:graphic>
          <a:graphicData uri="http://schemas.openxmlformats.org/drawingml/2006/table">
            <a:tbl>
              <a:tblPr/>
              <a:tblGrid>
                <a:gridCol w="1227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፩ኛ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፪ኛ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፫ኛ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፬ኛ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፭ኛ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፮ኛ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፯ኛ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ከ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ኪ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ካ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ኬ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ክ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ኮ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ku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ki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kie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 6"/>
          <p:cNvSpPr/>
          <p:nvPr/>
        </p:nvSpPr>
        <p:spPr>
          <a:xfrm>
            <a:off x="274320" y="3854196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ኻ-ካፍ (K)</a:t>
            </a:r>
            <a:endParaRPr lang="en-US" sz="1300" dirty="0"/>
          </a:p>
        </p:txBody>
      </p:sp>
      <p:graphicFrame>
        <p:nvGraphicFramePr>
          <p:cNvPr id="4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1936191"/>
              </p:ext>
            </p:extLst>
          </p:nvPr>
        </p:nvGraphicFramePr>
        <p:xfrm>
          <a:off x="274317" y="4110228"/>
          <a:ext cx="8595363" cy="822960"/>
        </p:xfrm>
        <a:graphic>
          <a:graphicData uri="http://schemas.openxmlformats.org/drawingml/2006/table">
            <a:tbl>
              <a:tblPr/>
              <a:tblGrid>
                <a:gridCol w="1227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፩ኛ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፪ኛ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፫ኛ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፬ኛ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፭ኛ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፮ኛ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፯ኛ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ኹ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ኺ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ኻ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ኼ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ኽ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ኾ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Ku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Ki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Kie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፫. ሙሉ የፊደል ማጣቀሻ (፭/፯)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1187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ዐይን (aa)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2614040"/>
              </p:ext>
            </p:extLst>
          </p:nvPr>
        </p:nvGraphicFramePr>
        <p:xfrm>
          <a:off x="274320" y="891151"/>
          <a:ext cx="8595363" cy="822960"/>
        </p:xfrm>
        <a:graphic>
          <a:graphicData uri="http://schemas.openxmlformats.org/drawingml/2006/table">
            <a:tbl>
              <a:tblPr/>
              <a:tblGrid>
                <a:gridCol w="1227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፩ኛ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፪ኛ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፫ኛ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፬ኛ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፭ኛ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፮ኛ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፯ኛ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ዑ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ዒ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ዕ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ዖ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aaa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uu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ii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iie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173736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ዘይ (z)</a:t>
            </a:r>
            <a:endParaRPr lang="en-US" sz="13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993392"/>
          <a:ext cx="8595363" cy="822960"/>
        </p:xfrm>
        <a:graphic>
          <a:graphicData uri="http://schemas.openxmlformats.org/drawingml/2006/table">
            <a:tbl>
              <a:tblPr/>
              <a:tblGrid>
                <a:gridCol w="1227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፩ኛ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፪ኛ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፫ኛ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፬ኛ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፭ኛ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፮ኛ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፯ኛ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ዘ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ዙ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ዚ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ዛ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ዜ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ዝ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ዞ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zu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zi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zie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274320" y="281635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ዠ-ዘይ (Z)</a:t>
            </a:r>
            <a:endParaRPr lang="en-US" sz="13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1641673"/>
              </p:ext>
            </p:extLst>
          </p:nvPr>
        </p:nvGraphicFramePr>
        <p:xfrm>
          <a:off x="274320" y="3076956"/>
          <a:ext cx="8595363" cy="822960"/>
        </p:xfrm>
        <a:graphic>
          <a:graphicData uri="http://schemas.openxmlformats.org/drawingml/2006/table">
            <a:tbl>
              <a:tblPr/>
              <a:tblGrid>
                <a:gridCol w="1227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፩ኛ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፪ኛ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፫ኛ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፬ኛ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፭ኛ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፮ኛ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፯ኛ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ዠ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ዡ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ዢ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ዣ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ዤ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ዥ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ዦ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Zu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Zi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Zie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274320" y="3899916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የመነ (y)</a:t>
            </a:r>
            <a:endParaRPr lang="en-US" sz="1300" dirty="0"/>
          </a:p>
        </p:txBody>
      </p:sp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7203073"/>
              </p:ext>
            </p:extLst>
          </p:nvPr>
        </p:nvGraphicFramePr>
        <p:xfrm>
          <a:off x="274320" y="4160520"/>
          <a:ext cx="8595363" cy="822960"/>
        </p:xfrm>
        <a:graphic>
          <a:graphicData uri="http://schemas.openxmlformats.org/drawingml/2006/table">
            <a:tbl>
              <a:tblPr/>
              <a:tblGrid>
                <a:gridCol w="1227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፩ኛ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፪ኛ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፫ኛ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፬ኛ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፭ኛ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፮ኛ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፯ኛ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የ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ዪ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ያ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ዬ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ይ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ዮ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yu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yi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yie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፫. ሙሉ የፊደል ማጣቀሻ (፮/፯)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57912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ጅ-ድንት (j)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8846751"/>
              </p:ext>
            </p:extLst>
          </p:nvPr>
        </p:nvGraphicFramePr>
        <p:xfrm>
          <a:off x="274320" y="856877"/>
          <a:ext cx="8595363" cy="822960"/>
        </p:xfrm>
        <a:graphic>
          <a:graphicData uri="http://schemas.openxmlformats.org/drawingml/2006/table">
            <a:tbl>
              <a:tblPr/>
              <a:tblGrid>
                <a:gridCol w="1227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፩ኛ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፪ኛ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፫ኛ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፬ኛ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፭ኛ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፮ኛ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፯ኛ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ጀ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ጁ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ጃ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ጄ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ጅ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ጆ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ju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ji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jie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1698644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ገምል (g)</a:t>
            </a:r>
            <a:endParaRPr lang="en-US" sz="13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4074355"/>
              </p:ext>
            </p:extLst>
          </p:nvPr>
        </p:nvGraphicFramePr>
        <p:xfrm>
          <a:off x="274320" y="1954676"/>
          <a:ext cx="8595363" cy="822960"/>
        </p:xfrm>
        <a:graphic>
          <a:graphicData uri="http://schemas.openxmlformats.org/drawingml/2006/table">
            <a:tbl>
              <a:tblPr/>
              <a:tblGrid>
                <a:gridCol w="1227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፩ኛ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፪ኛ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፫ኛ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፬ኛ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፭ኛ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፮ኛ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፯ኛ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ገ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ጉ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ጊ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ግ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ጎ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gu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274320" y="27432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ጠይት (T)</a:t>
            </a:r>
            <a:endParaRPr lang="en-US" sz="1300" dirty="0"/>
          </a:p>
        </p:txBody>
      </p:sp>
      <p:graphicFrame>
        <p:nvGraphicFramePr>
          <p:cNvPr id="3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1702165"/>
              </p:ext>
            </p:extLst>
          </p:nvPr>
        </p:nvGraphicFramePr>
        <p:xfrm>
          <a:off x="274320" y="3050594"/>
          <a:ext cx="8595363" cy="822960"/>
        </p:xfrm>
        <a:graphic>
          <a:graphicData uri="http://schemas.openxmlformats.org/drawingml/2006/table">
            <a:tbl>
              <a:tblPr/>
              <a:tblGrid>
                <a:gridCol w="1227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፩ኛ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፪ኛ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፫ኛ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፬ኛ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፭ኛ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፮ኛ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፯ኛ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ጠ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ጡ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ጢ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ጣ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ጤ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ጥ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ጦ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Tu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274317" y="3885681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ጨ-ጠይት (C)</a:t>
            </a:r>
            <a:endParaRPr lang="en-US" sz="1300" dirty="0"/>
          </a:p>
        </p:txBody>
      </p:sp>
      <p:graphicFrame>
        <p:nvGraphicFramePr>
          <p:cNvPr id="49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6157058"/>
              </p:ext>
            </p:extLst>
          </p:nvPr>
        </p:nvGraphicFramePr>
        <p:xfrm>
          <a:off x="274317" y="4160520"/>
          <a:ext cx="8595363" cy="822960"/>
        </p:xfrm>
        <a:graphic>
          <a:graphicData uri="http://schemas.openxmlformats.org/drawingml/2006/table">
            <a:tbl>
              <a:tblPr/>
              <a:tblGrid>
                <a:gridCol w="1227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፩ኛ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፪ኛ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፫ኛ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፬ኛ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፭ኛ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፮ኛ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፯ኛ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ጨ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ጪ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ጫ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ጬ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ጭ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ጮ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Cu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Ci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Cie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፫. ሙሉ የፊደል ማጣቀሻ (፯/፯)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14" y="639885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ጸደይ (S)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2263749"/>
              </p:ext>
            </p:extLst>
          </p:nvPr>
        </p:nvGraphicFramePr>
        <p:xfrm>
          <a:off x="274314" y="908239"/>
          <a:ext cx="8595363" cy="822960"/>
        </p:xfrm>
        <a:graphic>
          <a:graphicData uri="http://schemas.openxmlformats.org/drawingml/2006/table">
            <a:tbl>
              <a:tblPr/>
              <a:tblGrid>
                <a:gridCol w="1227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፩ኛ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፪ኛ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፫ኛ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፬ኛ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፭ኛ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፮ኛ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፯ኛ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ጹ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ጺ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ጻ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ጼ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ጽ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ጾ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173736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ፀጳ (SS)</a:t>
            </a:r>
            <a:endParaRPr lang="en-US" sz="13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993392"/>
          <a:ext cx="8595363" cy="822960"/>
        </p:xfrm>
        <a:graphic>
          <a:graphicData uri="http://schemas.openxmlformats.org/drawingml/2006/table">
            <a:tbl>
              <a:tblPr/>
              <a:tblGrid>
                <a:gridCol w="1227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፩ኛ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፪ኛ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፫ኛ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፬ኛ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፭ኛ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፮ኛ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፯ኛ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ፀ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ፁ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ፃ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ፄ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ፅ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ፆ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SSe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SSu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SSi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SSa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SSie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SSo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274323" y="282157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አፍ (f)</a:t>
            </a:r>
            <a:endParaRPr lang="en-US" sz="1300" dirty="0"/>
          </a:p>
        </p:txBody>
      </p:sp>
      <p:graphicFrame>
        <p:nvGraphicFramePr>
          <p:cNvPr id="4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9863173"/>
              </p:ext>
            </p:extLst>
          </p:nvPr>
        </p:nvGraphicFramePr>
        <p:xfrm>
          <a:off x="274320" y="3074670"/>
          <a:ext cx="8595363" cy="822960"/>
        </p:xfrm>
        <a:graphic>
          <a:graphicData uri="http://schemas.openxmlformats.org/drawingml/2006/table">
            <a:tbl>
              <a:tblPr/>
              <a:tblGrid>
                <a:gridCol w="1227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፩ኛ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፪ኛ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፫ኛ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፬ኛ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፭ኛ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፮ኛ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፯ኛ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ፈ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ፉ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ፊ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ፍ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ፎ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fu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274317" y="3887594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ፕሳ (p)</a:t>
            </a:r>
            <a:endParaRPr lang="en-US" sz="1300" dirty="0"/>
          </a:p>
        </p:txBody>
      </p:sp>
      <p:graphicFrame>
        <p:nvGraphicFramePr>
          <p:cNvPr id="5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9636846"/>
              </p:ext>
            </p:extLst>
          </p:nvPr>
        </p:nvGraphicFramePr>
        <p:xfrm>
          <a:off x="274317" y="4155948"/>
          <a:ext cx="8595363" cy="822960"/>
        </p:xfrm>
        <a:graphic>
          <a:graphicData uri="http://schemas.openxmlformats.org/drawingml/2006/table">
            <a:tbl>
              <a:tblPr/>
              <a:tblGrid>
                <a:gridCol w="1227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፩ኛ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፪ኛ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፫ኛ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፬ኛ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፭ኛ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፮ኛ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፯ኛ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ፑ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ፒ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ፕ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ፖ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pi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pie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፬. ከንፈር-ክብ (ላቢዮቬላር) ፊደሎች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808725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4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ይፃፉ፦ ተነባቢ + u + ተጨማሪ አናባቢ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1612760"/>
              </p:ext>
            </p:extLst>
          </p:nvPr>
        </p:nvGraphicFramePr>
        <p:xfrm>
          <a:off x="274320" y="1341898"/>
          <a:ext cx="8412480" cy="3456432"/>
        </p:xfrm>
        <a:graphic>
          <a:graphicData uri="http://schemas.openxmlformats.org/drawingml/2006/table">
            <a:tbl>
              <a:tblPr/>
              <a:tblGrid>
                <a:gridCol w="1399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9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9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90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90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ይፃፉ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ውጤቱ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ይፃፉ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ውጤቱ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ይፃፉ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ውጤቱ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Hua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mua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ሟ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rua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ሯ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ሷ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que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ቈ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qua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bua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ቧ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cua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ቿ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hue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ኈ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hua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ኋ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ኟ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kue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kua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ኳ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gua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guie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Tua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ጧ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Cua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ጯ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ጷ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ጿ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fua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፭. የኢትዮጵያ ቁጥሮች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1264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የሃሽ ምልክት (#) ቀጥሎ አረቢክ ቁጥሩ ይፃፉ፦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308875"/>
              </p:ext>
            </p:extLst>
          </p:nvPr>
        </p:nvGraphicFramePr>
        <p:xfrm>
          <a:off x="365760" y="954024"/>
          <a:ext cx="4114800" cy="14935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ይፃፉ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ውጤቱ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ትርጉም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#1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አንድ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#10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፲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አሥር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#100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፻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አንድ መቶ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#10000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፼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አሥር ሺህ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249631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4A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ሙሉ ቁጥሮች ማጣቀሻ፦</a:t>
            </a:r>
            <a:endParaRPr lang="en-US" sz="130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788920"/>
          <a:ext cx="8412480" cy="1975104"/>
        </p:xfrm>
        <a:graphic>
          <a:graphicData uri="http://schemas.openxmlformats.org/drawingml/2006/table">
            <a:tbl>
              <a:tblPr/>
              <a:tblGrid>
                <a:gridCol w="93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4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4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4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47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347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347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፪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፫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፬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፭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፮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፯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፱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፲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፳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፴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፶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፷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፹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፺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#10000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፻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፲፻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፼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ማስታወሻ፦ ቁጥር ፊት ቀጥተኛ # ለመፃፍ ## (ሁለት ሃሽ) ይፃፉ።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፮. የሥርዓተ ነጥብ ምልክቶች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የኢትዮጵያ ሥርዓተ ነጥብ ምልክቶች ተመሳሳይ ቁልፍ ሁለት ወይም ከዚያ በላይ ጊዜ በመጫን ይገኛሉ። ሁሉም ደበኛ እንግሊዝኛ ሥርዓተ ነጥብ ምልክቶች ይሠራሉ።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8412480" cy="393192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ምልክቱ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ይፃፉ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ትርጉም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፡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: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የቃል መለያ (ሥነ ፅሑፋዊ)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።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::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ሙሉ ቆሚ — የዓረፍተ ነገር ፍጻሜ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፣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,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ሠረዝ — በዓረፍተ ነገር ውስጥ ቆም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፤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;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ከፊል ቆሚ — ጠንካራ ቆም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፦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:-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ዝርዝር ወይም ጥቅስ መቅደሚያ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፥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,,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ሁለት ሠረዝ — የአንቀጽ ምልክት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፠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:+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ክፍል ምልክት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፨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:#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መፅሐፍ / ምንባብ ምልክት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‹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ነጠላ ግራ የጥቅስ ምልክት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›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&gt;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ነጠላ ቀኝ የጥቅስ ምልክት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&lt;&lt;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ድርብ ግራ የጥቅስ ምልክት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A4A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»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&gt;&gt;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ድርብ ቀኝ የጥቅስ ምልክት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፯. ፈጣን ማጣቀሻ</a:t>
            </a:r>
            <a:endParaRPr lang="en-US" sz="2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8480817"/>
              </p:ext>
            </p:extLst>
          </p:nvPr>
        </p:nvGraphicFramePr>
        <p:xfrm>
          <a:off x="274320" y="1115308"/>
          <a:ext cx="8595360" cy="3621024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ሁኔታ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ምን ይደረግ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ምሳሌዎች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መደበኛ ፊደሉ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ተነባቢ + አናባቢ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se=ሰ  ma=ማ  bo=ቦ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6ኛ ዓይነት (አናባቢ የለም)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ተነባቢ ብቻ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m=ም  s=ስ  b=ብ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አጽንዖታዊ/ጠንካራ ድምፅ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ትልቅ (CAPITAL) ፊደሉ ይጠቀሙ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Te=ጠ  Ce=ጨ  Pe=ጰ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ያልተለመደ ተመሳሳይ ድምፅ ፊደሉ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ትንሽ ፊደሉን ሁለት ጊዜ ይፃፉ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sse=ሠ  SSe=ፀ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ክብ ከንፈሮች ፊደሉ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ተነባቢ + u + ተጨማሪ አናባቢ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mua=ሟ  gua=ጓ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Bare ተነባቢ + አናባቢ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አፖስትሮፊ ' ሁለቱ መካከል ያስገቡ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gebr'iel=ገብርኤል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ቀጥተኛ አፖስትሮፊ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ይፃፉ '' (double apostrophe)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k''='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የኢትዮጵያ ቁጥሩ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 + ቁጥሩ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#1=፩  #10=፲  #100=፻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ቁጥር ፊት ቀጥተኛ 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## (ሁለት ሃሽ) ይፃፉ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##=#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የኢትዮጵያ ሥርዓተ ነጥብ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ተመሳሳይ ቁልፍ ሁለቴ+ ይፃፉ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::.=  :=  ,=  &lt;&lt;=«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Keyman Requirement">
    <p:bg>
      <p:bgPr>
        <a:solidFill>
          <a:srgbClr val="1A1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868680"/>
            <a:ext cx="8778240" cy="54864"/>
          </a:xfrm>
          <a:prstGeom prst="rect">
            <a:avLst/>
          </a:prstGeom>
          <a:solidFill>
            <a:srgbClr val="FCDC12"/>
          </a:solidFill>
          <a:ln w="12700">
            <a:solidFill>
              <a:srgbClr val="FCD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itle"/>
          <p:cNvSpPr/>
          <p:nvPr/>
        </p:nvSpPr>
        <p:spPr>
          <a:xfrm>
            <a:off x="347472" y="182880"/>
            <a:ext cx="8600000" cy="6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</a:rPr>
              <a:t>Keyman፦ አስፈላጊ ክፍለ-ፕሮግራም</a:t>
            </a:r>
          </a:p>
        </p:txBody>
      </p:sp>
      <p:sp>
        <p:nvSpPr>
          <p:cNvPr id="5" name="LeftColumn"/>
          <p:cNvSpPr/>
          <p:nvPr/>
        </p:nvSpPr>
        <p:spPr>
          <a:xfrm>
            <a:off x="347472" y="990600"/>
            <a:ext cx="4100000" cy="3900000"/>
          </a:xfrm>
          <a:prstGeom prst="rect">
            <a:avLst/>
          </a:prstGeom>
          <a:solidFill>
            <a:srgbClr val="1A2A4A"/>
          </a:solidFill>
          <a:ln w="12700">
            <a:solidFill>
              <a:srgbClr val="1A4A7A"/>
            </a:solidFill>
            <a:prstDash val="solid"/>
          </a:ln>
        </p:spPr>
        <p:txBody>
          <a:bodyPr wrap="square" rtlCol="0" anchor="t" lIns="180000" rIns="180000" tIns="180000" bIns="180000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CDC12"/>
                </a:solidFill>
                <a:latin typeface="Georgia" pitchFamily="34" charset="0"/>
              </a:rPr>
              <a:t>ለምን Keyman?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rgbClr val="F8F8F4"/>
                </a:solidFill>
                <a:latin typeface="Calibri" pitchFamily="34" charset="0"/>
              </a:rPr>
              <a:t>የአማርኛ ማስተዋወቂያ ጨዋታዎች Keyman ን ይጠቀማሉ - ያለ Keyman መተግበሪያው የሚጫኑትን ቁልፎች ወደ አማርኛ (ግዕዝ) ፊደላት መቀየር አይችልም።</a:t>
            </a:r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FCDC12"/>
                </a:solidFill>
                <a:latin typeface="Georgia" pitchFamily="34" charset="0"/>
              </a:rPr>
              <a:t>አስቀድሞ ተጭኗል?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rgbClr val="F8F8F4"/>
                </a:solidFill>
                <a:latin typeface="Calibri" pitchFamily="34" charset="0"/>
              </a:rPr>
              <a:t>በአብዛኛው አዎ! የአማርኛ ማስተዋወቂያ ጨዋታዎችን ሲጭኑ Keyman እና የአማርኛ ቁልፍ ሰሌዳ ጥቅል ከመተግበሪያው ጋር ራሱ በራሱ ሊዘጋጅ ይገባ ነበር።</a:t>
            </a:r>
          </a:p>
        </p:txBody>
      </p:sp>
      <p:sp>
        <p:nvSpPr>
          <p:cNvPr id="6" name="RightColumn"/>
          <p:cNvSpPr/>
          <p:nvPr/>
        </p:nvSpPr>
        <p:spPr>
          <a:xfrm>
            <a:off x="4600000" y="990600"/>
            <a:ext cx="4350000" cy="3900000"/>
          </a:xfrm>
          <a:prstGeom prst="rect">
            <a:avLst/>
          </a:prstGeom>
          <a:solidFill>
            <a:srgbClr val="111222"/>
          </a:solidFill>
          <a:ln w="12700">
            <a:solidFill>
              <a:srgbClr val="1A4A7A"/>
            </a:solidFill>
            <a:prstDash val="solid"/>
          </a:ln>
        </p:spPr>
        <p:txBody>
          <a:bodyPr wrap="square" rtlCol="0" anchor="t" lIns="180000" rIns="180000" tIns="180000" bIns="180000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CDC12"/>
                </a:solidFill>
                <a:latin typeface="Georgia" pitchFamily="34" charset="0"/>
              </a:rPr>
              <a:t>ቀጥሎ ምን ይደረግ</a:t>
            </a:r>
          </a:p>
          <a:p>
            <a:pPr marL="0" indent="0" algn="l">
              <a:buNone/>
            </a:pPr>
            <a:r>
              <a:rPr lang="en-US" sz="1200" b="1" dirty="0">
                <a:solidFill>
                  <a:srgbClr val="1A5A9A"/>
                </a:solidFill>
                <a:latin typeface="Calibri" pitchFamily="34" charset="0"/>
              </a:rPr>
              <a:t xml:space="preserve">ደረጃ ፩፦ </a:t>
            </a:r>
            <a:r>
              <a:rPr lang="en-US" sz="1200" dirty="0">
                <a:solidFill>
                  <a:srgbClr val="F8F8F4"/>
                </a:solidFill>
                <a:latin typeface="Calibri" pitchFamily="34" charset="0"/>
              </a:rPr>
              <a:t>Keyman መጫኑን ያረጋግጡ (ቀጣዩን ስላይድ ይመልከቱ)</a:t>
            </a:r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1A5A9A"/>
                </a:solidFill>
                <a:latin typeface="Calibri" pitchFamily="34" charset="0"/>
              </a:rPr>
              <a:t xml:space="preserve">ደረጃ ፪፦ </a:t>
            </a:r>
            <a:r>
              <a:rPr lang="en-US" sz="1200" dirty="0">
                <a:solidFill>
                  <a:srgbClr val="F8F8F4"/>
                </a:solidFill>
                <a:latin typeface="Calibri" pitchFamily="34" charset="0"/>
              </a:rPr>
              <a:t>ካልተጫነ Keyman ን ከአማርኛ ቁልፍ ሰሌዳ ጥቅሉ ጋር ይጫኑ (መመሪያ በቀጣዩ ስላይድ)</a:t>
            </a:r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1A5A9A"/>
                </a:solidFill>
                <a:latin typeface="Calibri" pitchFamily="34" charset="0"/>
              </a:rPr>
              <a:t xml:space="preserve">ደረጃ ፫፦ </a:t>
            </a:r>
            <a:r>
              <a:rPr lang="en-US" sz="1200" dirty="0">
                <a:solidFill>
                  <a:srgbClr val="F8F8F4"/>
                </a:solidFill>
                <a:latin typeface="Calibri" pitchFamily="34" charset="0"/>
              </a:rPr>
              <a:t>ወደ አማርኛ ማስተዋወቂያ ጨዋታዎች ተመልሰው ይጫወቱ!</a:t>
            </a:r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100" i="1" dirty="0">
                <a:solidFill>
                  <a:srgbClr val="8899BB"/>
                </a:solidFill>
                <a:latin typeface="Calibri" pitchFamily="34" charset="0"/>
              </a:rPr>
              <a:t>ምክር፡ Keyman አፑን ሲከፍቱ ቀደም ብሎ ከነበረ ሁሉም ዝግጁ ነው — ወደ ማረጋገጫ ደረጃ ቀጥታ ይሂዱ።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2063</Words>
  <Application>Microsoft Office PowerPoint</Application>
  <PresentationFormat>On-screen Show (16:9)</PresentationFormat>
  <Paragraphs>984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Adam Asteway</cp:lastModifiedBy>
  <cp:revision>5</cp:revision>
  <dcterms:created xsi:type="dcterms:W3CDTF">2026-05-17T06:23:59Z</dcterms:created>
  <dcterms:modified xsi:type="dcterms:W3CDTF">2026-05-17T06:57:59Z</dcterms:modified>
</cp:coreProperties>
</file>