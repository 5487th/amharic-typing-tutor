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24"/>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4" Type="http://schemas.openxmlformats.org/officeDocument/2006/relationships/slide" Target="slides/slide19.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962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6AA5"/>
          </a:solidFill>
          <a:ln w="12700">
            <a:solidFill>
              <a:srgbClr val="1F6AA5"/>
            </a:solidFill>
            <a:prstDash val="solid"/>
          </a:ln>
        </p:spPr>
        <p:txBody>
          <a:bodyPr/>
          <a:lstStyle/>
          <a:p>
            <a:endParaRPr lang="en-US"/>
          </a:p>
        </p:txBody>
      </p:sp>
      <p:sp>
        <p:nvSpPr>
          <p:cNvPr id="3" name="Shape 1"/>
          <p:cNvSpPr/>
          <p:nvPr/>
        </p:nvSpPr>
        <p:spPr>
          <a:xfrm>
            <a:off x="164592" y="2011680"/>
            <a:ext cx="8778240" cy="54864"/>
          </a:xfrm>
          <a:prstGeom prst="rect">
            <a:avLst/>
          </a:prstGeom>
          <a:solidFill>
            <a:srgbClr val="FCDC12"/>
          </a:solidFill>
          <a:ln w="12700">
            <a:solidFill>
              <a:srgbClr val="FCDC12"/>
            </a:solidFill>
            <a:prstDash val="solid"/>
          </a:ln>
        </p:spPr>
        <p:txBody>
          <a:bodyPr/>
          <a:lstStyle/>
          <a:p>
            <a:endParaRPr lang="en-US"/>
          </a:p>
        </p:txBody>
      </p:sp>
      <p:sp>
        <p:nvSpPr>
          <p:cNvPr id="5" name="Text 3"/>
          <p:cNvSpPr/>
          <p:nvPr/>
        </p:nvSpPr>
        <p:spPr>
          <a:xfrm>
            <a:off x="347472" y="488717"/>
            <a:ext cx="8412480" cy="822960"/>
          </a:xfrm>
          <a:prstGeom prst="rect">
            <a:avLst/>
          </a:prstGeom>
          <a:noFill/>
          <a:ln/>
        </p:spPr>
        <p:txBody>
          <a:bodyPr wrap="square" rtlCol="0" anchor="ctr"/>
          <a:lstStyle/>
          <a:p>
            <a:pPr marL="0" indent="0" algn="l">
              <a:buNone/>
            </a:pPr>
            <a:r>
              <a:rPr lang="en-US" sz="3400" b="1" dirty="0">
                <a:solidFill>
                  <a:srgbClr val="FFFFFF"/>
                </a:solidFill>
                <a:latin typeface="Georgia" pitchFamily="34" charset="0"/>
                <a:ea typeface="Georgia" pitchFamily="34" charset="-122"/>
                <a:cs typeface="Georgia" pitchFamily="34" charset="-120"/>
              </a:rPr>
              <a:t>Amharic Typing Games, full guide</a:t>
            </a:r>
            <a:endParaRPr lang="en-US" sz="3400" dirty="0"/>
          </a:p>
        </p:txBody>
      </p:sp>
      <p:sp>
        <p:nvSpPr>
          <p:cNvPr id="6" name="Text 4"/>
          <p:cNvSpPr/>
          <p:nvPr/>
        </p:nvSpPr>
        <p:spPr>
          <a:xfrm>
            <a:off x="457200" y="2194560"/>
            <a:ext cx="8412480" cy="502920"/>
          </a:xfrm>
          <a:prstGeom prst="rect">
            <a:avLst/>
          </a:prstGeom>
          <a:noFill/>
          <a:ln/>
        </p:spPr>
        <p:txBody>
          <a:bodyPr wrap="square" rtlCol="0" anchor="ctr"/>
          <a:lstStyle/>
          <a:p>
            <a:pPr marL="0" indent="0" algn="l">
              <a:buNone/>
            </a:pPr>
            <a:r>
              <a:rPr lang="en-US" sz="2000" dirty="0">
                <a:solidFill>
                  <a:srgbClr val="FCDC12"/>
                </a:solidFill>
                <a:latin typeface="Calibri" pitchFamily="34" charset="0"/>
                <a:ea typeface="Calibri" pitchFamily="34" charset="-122"/>
                <a:cs typeface="Calibri" pitchFamily="34" charset="-120"/>
              </a:rPr>
              <a:t>A Practical Guide to typing in Amharic</a:t>
            </a:r>
            <a:endParaRPr lang="en-US" sz="2000" dirty="0"/>
          </a:p>
        </p:txBody>
      </p:sp>
      <p:sp>
        <p:nvSpPr>
          <p:cNvPr id="7" name="Text 5"/>
          <p:cNvSpPr/>
          <p:nvPr/>
        </p:nvSpPr>
        <p:spPr>
          <a:xfrm>
            <a:off x="457200" y="2788920"/>
            <a:ext cx="8229600" cy="2194560"/>
          </a:xfrm>
          <a:prstGeom prst="rect">
            <a:avLst/>
          </a:prstGeom>
          <a:noFill/>
          <a:ln/>
        </p:spPr>
        <p:txBody>
          <a:bodyPr wrap="square" rtlCol="0" anchor="ctr"/>
          <a:lstStyle/>
          <a:p>
            <a:pPr marL="0" indent="0">
              <a:buNone/>
            </a:pPr>
            <a:r>
              <a:rPr lang="en-US" sz="1300" dirty="0">
                <a:solidFill>
                  <a:srgbClr val="F8F8F4"/>
                </a:solidFill>
                <a:latin typeface="Calibri" pitchFamily="34" charset="0"/>
                <a:ea typeface="Calibri" pitchFamily="34" charset="-122"/>
                <a:cs typeface="Calibri" pitchFamily="34" charset="-120"/>
              </a:rPr>
              <a:t>Getting Started with Keyman</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1. How the Keyboard Works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2. The Four Typing Rules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3. Complete Letter Reference</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4. Rounded-Lip Letters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5. Ethiopic Numbers</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6. Punctuation</a:t>
            </a:r>
            <a:endParaRPr lang="en-US" sz="1300" dirty="0"/>
          </a:p>
          <a:p>
            <a:pPr marL="0" indent="0">
              <a:buNone/>
            </a:pPr>
            <a:r>
              <a:rPr lang="en-US" sz="1300" dirty="0">
                <a:solidFill>
                  <a:srgbClr val="F8F8F4"/>
                </a:solidFill>
                <a:latin typeface="Calibri" pitchFamily="34" charset="0"/>
                <a:ea typeface="Calibri" pitchFamily="34" charset="-122"/>
                <a:cs typeface="Calibri" pitchFamily="34" charset="-120"/>
              </a:rPr>
              <a:t>7. Quick Reference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Getting Started with Keyman</a:t>
            </a:r>
            <a:endParaRPr lang="en-US" sz="2200" dirty="0"/>
          </a:p>
        </p:txBody>
      </p:sp>
      <p:sp>
        <p:nvSpPr>
          <p:cNvPr id="4" name="Text 2"/>
          <p:cNvSpPr/>
          <p:nvPr/>
        </p:nvSpPr>
        <p:spPr>
          <a:xfrm>
            <a:off x="365760" y="1005840"/>
            <a:ext cx="8412480" cy="50292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Keyman is a free input method manager that lets you type Amharic on any standard keyboard. The Amharic Typing Game's app should have installed it automatically.</a:t>
            </a:r>
            <a:endParaRPr lang="en-US" sz="1300" dirty="0"/>
          </a:p>
        </p:txBody>
      </p:sp>
      <p:sp>
        <p:nvSpPr>
          <p:cNvPr id="5" name="Text 3"/>
          <p:cNvSpPr/>
          <p:nvPr/>
        </p:nvSpPr>
        <p:spPr>
          <a:xfrm>
            <a:off x="365760" y="1554480"/>
            <a:ext cx="8412480" cy="292608"/>
          </a:xfrm>
          <a:prstGeom prst="rect">
            <a:avLst/>
          </a:prstGeom>
          <a:noFill/>
          <a:ln/>
        </p:spPr>
        <p:txBody>
          <a:bodyPr wrap="square" rtlCol="0" anchor="ctr"/>
          <a:lstStyle/>
          <a:p>
            <a:pPr marL="0" indent="0">
              <a:buNone/>
            </a:pPr>
            <a:r>
              <a:rPr lang="en-US" sz="1400" b="1" dirty="0">
                <a:solidFill>
                  <a:srgbClr val="1F6AA5"/>
                </a:solidFill>
                <a:latin typeface="Georgia" pitchFamily="34" charset="0"/>
                <a:ea typeface="Georgia" pitchFamily="34" charset="-122"/>
                <a:cs typeface="Georgia" pitchFamily="34" charset="-120"/>
              </a:rPr>
              <a:t>How to Check if Keyman is Installed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874520"/>
          <a:ext cx="8412480" cy="2011680"/>
        </p:xfrm>
        <a:graphic>
          <a:graphicData uri="http://schemas.openxmlformats.org/drawingml/2006/table">
            <a:tbl>
              <a:tblPr/>
              <a:tblGrid>
                <a:gridCol w="1463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Operating System</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to Look</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You Should See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Windows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System tray (bottom-right corner of taskbar)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A "K" icon in the notification area. Click it to see active keyboards.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macOS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Menu bar (top-right of screen)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A flag or language icon. Open System Settings &gt; Keyboard &gt; Input Sources and look for "Amharic (Keyman)".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Linux</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Input method panel or terminal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Run: keyman --version in a terminal. A version number confirms it is installed.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Open any text editor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Switch to the Amharic keyboard and type "se" — you should see ሰ appear.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4"/>
          <p:cNvSpPr/>
          <p:nvPr/>
        </p:nvSpPr>
        <p:spPr>
          <a:xfrm>
            <a:off x="365760" y="3977640"/>
            <a:ext cx="8412480" cy="502920"/>
          </a:xfrm>
          <a:prstGeom prst="rect">
            <a:avLst/>
          </a:prstGeom>
          <a:solidFill>
            <a:srgbClr val="DCE4EE"/>
          </a:solidFill>
          <a:ln/>
        </p:spPr>
        <p:txBody>
          <a:bodyPr wrap="square" lIns="63500" tIns="63500" rIns="63500" bIns="63500" rtlCol="0" anchor="ctr"/>
          <a:lstStyle/>
          <a:p>
            <a:pPr marL="0" indent="0">
              <a:buNone/>
            </a:pPr>
            <a:r>
              <a:rPr lang="en-US" sz="1100" dirty="0">
                <a:solidFill>
                  <a:srgbClr val="3B8ED0"/>
                </a:solidFill>
                <a:latin typeface="Calibri" pitchFamily="34" charset="0"/>
                <a:ea typeface="Calibri" pitchFamily="34" charset="-122"/>
                <a:cs typeface="Calibri" pitchFamily="34" charset="-120"/>
              </a:rPr>
              <a:t>💡 Tip: If you saw an installation prompt when you first launched the app, Keyman is likely already set up. Skip straight to the verification step.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Installing Keyman</a:t>
            </a:r>
            <a:endParaRPr lang="en-US" sz="2200" dirty="0"/>
          </a:p>
        </p:txBody>
      </p:sp>
      <p:sp>
        <p:nvSpPr>
          <p:cNvPr id="4" name="Text 2"/>
          <p:cNvSpPr/>
          <p:nvPr/>
        </p:nvSpPr>
        <p:spPr>
          <a:xfrm>
            <a:off x="274320" y="621792"/>
            <a:ext cx="8595360" cy="320040"/>
          </a:xfrm>
          <a:prstGeom prst="rect">
            <a:avLst/>
          </a:prstGeom>
          <a:noFill/>
          <a:ln/>
        </p:spPr>
        <p:txBody>
          <a:bodyPr wrap="square" rtlCol="0" anchor="ctr"/>
          <a:lstStyle/>
          <a:p>
            <a:pPr marL="0" indent="0">
              <a:buNone/>
            </a:pPr>
            <a:r>
              <a:rPr lang="en-US" sz="1300" i="1" dirty="0">
                <a:solidFill>
                  <a:srgbClr val="555555"/>
                </a:solidFill>
                <a:latin typeface="Calibri" pitchFamily="34" charset="0"/>
                <a:ea typeface="Calibri" pitchFamily="34" charset="-122"/>
                <a:cs typeface="Calibri" pitchFamily="34" charset="-120"/>
              </a:rPr>
              <a:t>If Keyman is not already installed, follow these steps: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2926080"/>
        </p:xfrm>
        <a:graphic>
          <a:graphicData uri="http://schemas.openxmlformats.org/drawingml/2006/table">
            <a:tbl>
              <a:tblPr/>
              <a:tblGrid>
                <a:gridCol w="64008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Visit keyman.com in your web browser and click Download Keyman. The site detects your operating system automatically.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Run the installer and follow the on-screen prompts. On Windows and macOS you may need to grant administrator permission.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After installation, open Keyman Configuration (from the system tray or menu bar icon). Go to Keyboard Layouts and search for Amharic.</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Click Install next to the Amharic keyboard package, then confirm. Keyman will download and activate it.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Restart the Amharic Typing Game's app. Your keyboard is now ready — type selam and watch ሰላም appear!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365760" y="4023360"/>
            <a:ext cx="8412480" cy="594360"/>
          </a:xfrm>
          <a:prstGeom prst="rect">
            <a:avLst/>
          </a:prstGeom>
          <a:solidFill>
            <a:srgbClr val="FFF3CC"/>
          </a:solidFill>
          <a:ln/>
        </p:spPr>
        <p:txBody>
          <a:bodyPr wrap="square" lIns="63500" tIns="63500" rIns="63500" bIns="63500" rtlCol="0" anchor="ctr"/>
          <a:lstStyle/>
          <a:p>
            <a:pPr marL="0" indent="0">
              <a:buNone/>
            </a:pPr>
            <a:r>
              <a:rPr lang="en-US" sz="1100" dirty="0">
                <a:solidFill>
                  <a:srgbClr val="7A3A00"/>
                </a:solidFill>
                <a:latin typeface="Calibri" pitchFamily="34" charset="0"/>
                <a:ea typeface="Calibri" pitchFamily="34" charset="-122"/>
                <a:cs typeface="Calibri" pitchFamily="34" charset="-120"/>
              </a:rPr>
              <a:t>Still not working? Make sure you have selected the Amharic keyboard in Keyman before typing. Click the Keyman icon and select Amharic. On some systems you may need to log out and back in after first installation.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1. How the Keyman Amharic Keyboard Works</a:t>
            </a:r>
            <a:endParaRPr lang="en-US" sz="2200" dirty="0"/>
          </a:p>
        </p:txBody>
      </p:sp>
      <p:sp>
        <p:nvSpPr>
          <p:cNvPr id="4" name="Text 2"/>
          <p:cNvSpPr/>
          <p:nvPr/>
        </p:nvSpPr>
        <p:spPr>
          <a:xfrm>
            <a:off x="365760" y="731520"/>
            <a:ext cx="8412480" cy="50292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The Keyman Amharic keyboard uses a phonetic system — you type the sounds of Amharic words using English letters, and the keyboard converts them into the correct Amharic (Ethiopic) script.</a:t>
            </a:r>
            <a:endParaRPr lang="en-US" sz="1300" dirty="0"/>
          </a:p>
        </p:txBody>
      </p:sp>
      <p:sp>
        <p:nvSpPr>
          <p:cNvPr id="5" name="Shape 3"/>
          <p:cNvSpPr/>
          <p:nvPr/>
        </p:nvSpPr>
        <p:spPr>
          <a:xfrm>
            <a:off x="365760" y="1298448"/>
            <a:ext cx="8412480" cy="658368"/>
          </a:xfrm>
          <a:prstGeom prst="rect">
            <a:avLst/>
          </a:prstGeom>
          <a:solidFill>
            <a:srgbClr val="DCE4EE"/>
          </a:solidFill>
          <a:ln w="12700">
            <a:solidFill>
              <a:srgbClr val="3B8ED0"/>
            </a:solidFill>
            <a:prstDash val="solid"/>
          </a:ln>
        </p:spPr>
        <p:txBody>
          <a:bodyPr/>
          <a:lstStyle/>
          <a:p>
            <a:endParaRPr lang="en-US"/>
          </a:p>
        </p:txBody>
      </p:sp>
      <p:sp>
        <p:nvSpPr>
          <p:cNvPr id="6" name="Text 4"/>
          <p:cNvSpPr/>
          <p:nvPr/>
        </p:nvSpPr>
        <p:spPr>
          <a:xfrm>
            <a:off x="548640" y="1371600"/>
            <a:ext cx="8046720" cy="502920"/>
          </a:xfrm>
          <a:prstGeom prst="rect">
            <a:avLst/>
          </a:prstGeom>
          <a:noFill/>
          <a:ln/>
        </p:spPr>
        <p:txBody>
          <a:bodyPr wrap="square" rtlCol="0" anchor="ctr"/>
          <a:lstStyle/>
          <a:p>
            <a:pPr marL="0" indent="0">
              <a:buNone/>
            </a:pPr>
            <a:r>
              <a:rPr lang="en-US" sz="1800" b="1" dirty="0">
                <a:solidFill>
                  <a:srgbClr val="2B2B2B"/>
                </a:solidFill>
                <a:latin typeface="Courier New" pitchFamily="34" charset="0"/>
                <a:ea typeface="Courier New" pitchFamily="34" charset="-122"/>
                <a:cs typeface="Courier New" pitchFamily="34" charset="-120"/>
              </a:rPr>
              <a:t xml:space="preserve">selam  →  </a:t>
            </a:r>
            <a:r>
              <a:rPr lang="en-US" sz="2200" b="1" dirty="0">
                <a:solidFill>
                  <a:srgbClr val="1F6AA5"/>
                </a:solidFill>
                <a:latin typeface="Calibri" pitchFamily="34" charset="0"/>
                <a:ea typeface="Calibri" pitchFamily="34" charset="-122"/>
                <a:cs typeface="Calibri" pitchFamily="34" charset="-120"/>
              </a:rPr>
              <a:t>ሰላም</a:t>
            </a:r>
            <a:r>
              <a:rPr lang="en-US" sz="1500" i="1" dirty="0">
                <a:solidFill>
                  <a:srgbClr val="555555"/>
                </a:solidFill>
                <a:latin typeface="Calibri" pitchFamily="34" charset="0"/>
                <a:ea typeface="Calibri" pitchFamily="34" charset="-122"/>
                <a:cs typeface="Calibri" pitchFamily="34" charset="-120"/>
              </a:rPr>
              <a:t xml:space="preserve">   Hello / Peace</a:t>
            </a:r>
            <a:endParaRPr lang="en-US" sz="1800" dirty="0"/>
          </a:p>
        </p:txBody>
      </p:sp>
      <p:sp>
        <p:nvSpPr>
          <p:cNvPr id="7" name="Text 5"/>
          <p:cNvSpPr/>
          <p:nvPr/>
        </p:nvSpPr>
        <p:spPr>
          <a:xfrm>
            <a:off x="365760" y="2057400"/>
            <a:ext cx="8412480" cy="292608"/>
          </a:xfrm>
          <a:prstGeom prst="rect">
            <a:avLst/>
          </a:prstGeom>
          <a:noFill/>
          <a:ln/>
        </p:spPr>
        <p:txBody>
          <a:bodyPr wrap="square" rtlCol="0" anchor="ctr"/>
          <a:lstStyle/>
          <a:p>
            <a:pPr marL="0" indent="0">
              <a:buNone/>
            </a:pPr>
            <a:r>
              <a:rPr lang="en-US" sz="1400" b="1" dirty="0">
                <a:solidFill>
                  <a:srgbClr val="1F6AA5"/>
                </a:solidFill>
                <a:latin typeface="Georgia" pitchFamily="34" charset="0"/>
                <a:ea typeface="Georgia" pitchFamily="34" charset="-122"/>
                <a:cs typeface="Georgia" pitchFamily="34" charset="-120"/>
              </a:rPr>
              <a:t>The Seven Orders — Example with letter M:</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2377440"/>
          <a:ext cx="8412480" cy="2407920"/>
        </p:xfrm>
        <a:graphic>
          <a:graphicData uri="http://schemas.openxmlformats.org/drawingml/2006/table">
            <a:tbl>
              <a:tblPr/>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2743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Order</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Vowel sound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1st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ግዕዝ</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–e– (like "men")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2nd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ካዕብ</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–u– (like "moon")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mu</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3rd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ሣልስ</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–i– (like "meet")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mi</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4th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ራብዕ</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–a– (like "ma")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5th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ኃምስ</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–ie– (like "meh")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mie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6th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ሳድስ</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no vowel (neutral)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7th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ሳብዕ</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–o– (like "more")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mo</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Text 6"/>
          <p:cNvSpPr/>
          <p:nvPr/>
        </p:nvSpPr>
        <p:spPr>
          <a:xfrm>
            <a:off x="365760" y="4800600"/>
            <a:ext cx="8412480" cy="256032"/>
          </a:xfrm>
          <a:prstGeom prst="rect">
            <a:avLst/>
          </a:prstGeom>
          <a:noFill/>
          <a:ln/>
        </p:spPr>
        <p:txBody>
          <a:bodyPr wrap="square" rtlCol="0" anchor="ctr"/>
          <a:lstStyle/>
          <a:p>
            <a:pPr marL="0" indent="0">
              <a:buNone/>
            </a:pPr>
            <a:r>
              <a:rPr lang="en-US" sz="1100" i="1" dirty="0">
                <a:solidFill>
                  <a:srgbClr val="3B8ED0"/>
                </a:solidFill>
                <a:latin typeface="Calibri" pitchFamily="34" charset="0"/>
                <a:ea typeface="Calibri" pitchFamily="34" charset="-122"/>
                <a:cs typeface="Calibri" pitchFamily="34" charset="-120"/>
              </a:rPr>
              <a:t>Tip: The 6th order is typed with the consonant alone — no vowel.   m = ም   s = ስ   b = ብ</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2. The Four Typing Rules (Rules 1 &amp; 2)</a:t>
            </a:r>
            <a:endParaRPr lang="en-US" sz="2200" dirty="0"/>
          </a:p>
        </p:txBody>
      </p:sp>
      <p:sp>
        <p:nvSpPr>
          <p:cNvPr id="4" name="Shape 2"/>
          <p:cNvSpPr/>
          <p:nvPr/>
        </p:nvSpPr>
        <p:spPr>
          <a:xfrm>
            <a:off x="365760" y="731519"/>
            <a:ext cx="54864" cy="2193264"/>
          </a:xfrm>
          <a:prstGeom prst="rect">
            <a:avLst/>
          </a:prstGeom>
          <a:solidFill>
            <a:srgbClr val="FCDC12"/>
          </a:solidFill>
          <a:ln w="12700">
            <a:solidFill>
              <a:srgbClr val="FCDC12"/>
            </a:solidFill>
            <a:prstDash val="solid"/>
          </a:ln>
        </p:spPr>
        <p:txBody>
          <a:bodyPr/>
          <a:lstStyle/>
          <a:p>
            <a:endParaRPr lang="en-US"/>
          </a:p>
        </p:txBody>
      </p:sp>
      <p:sp>
        <p:nvSpPr>
          <p:cNvPr id="5" name="Text 3"/>
          <p:cNvSpPr/>
          <p:nvPr/>
        </p:nvSpPr>
        <p:spPr>
          <a:xfrm>
            <a:off x="548640" y="722376"/>
            <a:ext cx="8229600" cy="292608"/>
          </a:xfrm>
          <a:prstGeom prst="rect">
            <a:avLst/>
          </a:prstGeom>
          <a:noFill/>
          <a:ln/>
        </p:spPr>
        <p:txBody>
          <a:bodyPr wrap="square"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Rule 1 — Capital Letters for Emphatic Sounds</a:t>
            </a:r>
            <a:endParaRPr lang="en-US" sz="1400" dirty="0"/>
          </a:p>
        </p:txBody>
      </p:sp>
      <p:sp>
        <p:nvSpPr>
          <p:cNvPr id="6" name="Text 4"/>
          <p:cNvSpPr/>
          <p:nvPr/>
        </p:nvSpPr>
        <p:spPr>
          <a:xfrm>
            <a:off x="548640" y="1069848"/>
            <a:ext cx="8229600" cy="19280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Some Amharic sounds are stronger versions of English sounds. For these, type the CAPITAL (uppercase) letter.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69056668"/>
              </p:ext>
            </p:extLst>
          </p:nvPr>
        </p:nvGraphicFramePr>
        <p:xfrm>
          <a:off x="548640" y="1317514"/>
          <a:ext cx="8046720" cy="14935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Emphatic T — 1st order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Tu / Ti / Ta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ጡ / ጢ / 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Other orders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6th order (no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TienaysTlN</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ጤናይስጥልኝ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"How are you?" (informal)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365760" y="3102086"/>
            <a:ext cx="54864" cy="1828800"/>
          </a:xfrm>
          <a:prstGeom prst="rect">
            <a:avLst/>
          </a:prstGeom>
          <a:solidFill>
            <a:srgbClr val="E03030"/>
          </a:solidFill>
          <a:ln w="12700">
            <a:solidFill>
              <a:srgbClr val="E03030"/>
            </a:solidFill>
            <a:prstDash val="solid"/>
          </a:ln>
        </p:spPr>
        <p:txBody>
          <a:bodyPr/>
          <a:lstStyle/>
          <a:p>
            <a:endParaRPr lang="en-US"/>
          </a:p>
        </p:txBody>
      </p:sp>
      <p:sp>
        <p:nvSpPr>
          <p:cNvPr id="9" name="Text 6"/>
          <p:cNvSpPr/>
          <p:nvPr/>
        </p:nvSpPr>
        <p:spPr>
          <a:xfrm>
            <a:off x="548640" y="3102086"/>
            <a:ext cx="8229600" cy="292608"/>
          </a:xfrm>
          <a:prstGeom prst="rect">
            <a:avLst/>
          </a:prstGeom>
          <a:noFill/>
          <a:ln/>
        </p:spPr>
        <p:txBody>
          <a:bodyPr wrap="square"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Rule 2 — Double Letters for Rare Sounds</a:t>
            </a:r>
            <a:endParaRPr lang="en-US" sz="1400" dirty="0"/>
          </a:p>
        </p:txBody>
      </p:sp>
      <p:sp>
        <p:nvSpPr>
          <p:cNvPr id="10" name="Text 7"/>
          <p:cNvSpPr/>
          <p:nvPr/>
        </p:nvSpPr>
        <p:spPr>
          <a:xfrm>
            <a:off x="548640" y="3303254"/>
            <a:ext cx="8229600" cy="34747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For sounds that are more distinct, type the same key twice. If the capital doesn't give what you want, try doubling it.</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924570522"/>
              </p:ext>
            </p:extLst>
          </p:nvPr>
        </p:nvGraphicFramePr>
        <p:xfrm>
          <a:off x="548640" y="3654682"/>
          <a:ext cx="8046720" cy="11887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se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Regular 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sse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Rare S (older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SSe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Double-capital (e.g., ፀሐይ — Sun: SSeHey)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2. The Four Typing Rules (Rules 3 &amp; 4)</a:t>
            </a:r>
            <a:endParaRPr lang="en-US" sz="2200" dirty="0"/>
          </a:p>
        </p:txBody>
      </p:sp>
      <p:sp>
        <p:nvSpPr>
          <p:cNvPr id="4" name="Shape 2"/>
          <p:cNvSpPr/>
          <p:nvPr/>
        </p:nvSpPr>
        <p:spPr>
          <a:xfrm>
            <a:off x="365760" y="731519"/>
            <a:ext cx="54864" cy="2043651"/>
          </a:xfrm>
          <a:prstGeom prst="rect">
            <a:avLst/>
          </a:prstGeom>
          <a:solidFill>
            <a:srgbClr val="1F6AA5"/>
          </a:solidFill>
          <a:ln w="12700">
            <a:solidFill>
              <a:srgbClr val="1F6AA5"/>
            </a:solidFill>
            <a:prstDash val="solid"/>
          </a:ln>
        </p:spPr>
        <p:txBody>
          <a:bodyPr/>
          <a:lstStyle/>
          <a:p>
            <a:endParaRPr lang="en-US"/>
          </a:p>
        </p:txBody>
      </p:sp>
      <p:sp>
        <p:nvSpPr>
          <p:cNvPr id="5" name="Text 3"/>
          <p:cNvSpPr/>
          <p:nvPr/>
        </p:nvSpPr>
        <p:spPr>
          <a:xfrm>
            <a:off x="548640" y="675910"/>
            <a:ext cx="8229600" cy="292608"/>
          </a:xfrm>
          <a:prstGeom prst="rect">
            <a:avLst/>
          </a:prstGeom>
          <a:noFill/>
          <a:ln/>
        </p:spPr>
        <p:txBody>
          <a:bodyPr wrap="square"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Rule 3 — Extra Vowel After u for Rounded-Lip Letters</a:t>
            </a:r>
            <a:endParaRPr lang="en-US" sz="1400" dirty="0"/>
          </a:p>
        </p:txBody>
      </p:sp>
      <p:sp>
        <p:nvSpPr>
          <p:cNvPr id="6" name="Text 4"/>
          <p:cNvSpPr/>
          <p:nvPr/>
        </p:nvSpPr>
        <p:spPr>
          <a:xfrm>
            <a:off x="548640" y="929964"/>
            <a:ext cx="8229600" cy="292608"/>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Some Amharic letters are pronounced with rounded lips (like w). Type: consonant + u + extra vowel.</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2226275870"/>
              </p:ext>
            </p:extLst>
          </p:nvPr>
        </p:nvGraphicFramePr>
        <p:xfrm>
          <a:off x="548640" y="1233370"/>
          <a:ext cx="8046720" cy="14935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8257">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Breakdown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mua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ሟ</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M + rounded lips + 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gua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G + rounded lips + 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guie</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G + rounded lips + IE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6953">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kua</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K + rounded lips + A</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365760" y="2983149"/>
            <a:ext cx="54864" cy="2043651"/>
          </a:xfrm>
          <a:prstGeom prst="rect">
            <a:avLst/>
          </a:prstGeom>
          <a:solidFill>
            <a:srgbClr val="3B8ED0"/>
          </a:solidFill>
          <a:ln w="12700">
            <a:solidFill>
              <a:srgbClr val="3B8ED0"/>
            </a:solidFill>
            <a:prstDash val="solid"/>
          </a:ln>
        </p:spPr>
        <p:txBody>
          <a:bodyPr/>
          <a:lstStyle/>
          <a:p>
            <a:endParaRPr lang="en-US"/>
          </a:p>
        </p:txBody>
      </p:sp>
      <p:sp>
        <p:nvSpPr>
          <p:cNvPr id="9" name="Text 6"/>
          <p:cNvSpPr/>
          <p:nvPr/>
        </p:nvSpPr>
        <p:spPr>
          <a:xfrm>
            <a:off x="503244" y="2813887"/>
            <a:ext cx="8229600" cy="292608"/>
          </a:xfrm>
          <a:prstGeom prst="rect">
            <a:avLst/>
          </a:prstGeom>
          <a:noFill/>
          <a:ln/>
        </p:spPr>
        <p:txBody>
          <a:bodyPr wrap="square" rtlCol="0" anchor="ctr"/>
          <a:lstStyle/>
          <a:p>
            <a:pPr marL="0" indent="0">
              <a:buNone/>
            </a:pPr>
            <a:r>
              <a:rPr lang="en-US" sz="1400" b="1" dirty="0">
                <a:solidFill>
                  <a:srgbClr val="2B2B2B"/>
                </a:solidFill>
                <a:latin typeface="Georgia" pitchFamily="34" charset="0"/>
                <a:ea typeface="Georgia" pitchFamily="34" charset="-122"/>
                <a:cs typeface="Georgia" pitchFamily="34" charset="-120"/>
              </a:rPr>
              <a:t>Rule 4 — Apostrophe to Separate 6th-Order + Vowel</a:t>
            </a:r>
            <a:endParaRPr lang="en-US" sz="1400" dirty="0"/>
          </a:p>
        </p:txBody>
      </p:sp>
      <p:sp>
        <p:nvSpPr>
          <p:cNvPr id="10" name="Text 7"/>
          <p:cNvSpPr/>
          <p:nvPr/>
        </p:nvSpPr>
        <p:spPr>
          <a:xfrm>
            <a:off x="503244" y="3070373"/>
            <a:ext cx="8229600" cy="411480"/>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Normally typing a vowel after a consonant creates a combined letter. To keep a bare consonant and a separate vowel apart, insert an apostrophe (') between them.</a:t>
            </a:r>
            <a:endParaRPr lang="en-US" sz="1200" dirty="0"/>
          </a:p>
        </p:txBody>
      </p:sp>
      <p:graphicFrame>
        <p:nvGraphicFramePr>
          <p:cNvPr id="13" name="Table 1"/>
          <p:cNvGraphicFramePr>
            <a:graphicFrameLocks noGrp="1"/>
          </p:cNvGraphicFramePr>
          <p:nvPr>
            <p:extLst>
              <p:ext uri="{D42A27DB-BD31-4B8C-83A1-F6EECF244321}">
                <p14:modId xmlns:p14="http://schemas.microsoft.com/office/powerpoint/2010/main" val="1856097482"/>
              </p:ext>
            </p:extLst>
          </p:nvPr>
        </p:nvGraphicFramePr>
        <p:xfrm>
          <a:off x="548640" y="3533280"/>
          <a:ext cx="8046720" cy="149352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gebr'iel</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ገብርኤል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"Gabriel"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m'eeraf</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ምዕራፍ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"Chapter / West"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mel'ak</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መልአክ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"Angel"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k''</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Literal apostrophe — type '' (double apostrophe)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(1/7)</a:t>
            </a:r>
            <a:endParaRPr lang="en-US" sz="2200" dirty="0"/>
          </a:p>
        </p:txBody>
      </p:sp>
      <p:sp>
        <p:nvSpPr>
          <p:cNvPr id="5" name="Text 3"/>
          <p:cNvSpPr/>
          <p:nvPr/>
        </p:nvSpPr>
        <p:spPr>
          <a:xfrm>
            <a:off x="274323" y="604769"/>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ሆይ (h)</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3961291184"/>
              </p:ext>
            </p:extLst>
          </p:nvPr>
        </p:nvGraphicFramePr>
        <p:xfrm>
          <a:off x="274320" y="877469"/>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ላዊ (l)</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ሉ</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ሊ</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ሌ</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ሎ</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lo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79375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ሐውት (H)</a:t>
            </a:r>
            <a:endParaRPr lang="en-US" sz="1300" dirty="0"/>
          </a:p>
        </p:txBody>
      </p:sp>
      <p:graphicFrame>
        <p:nvGraphicFramePr>
          <p:cNvPr id="22" name="Table 2"/>
          <p:cNvGraphicFramePr>
            <a:graphicFrameLocks noGrp="1"/>
          </p:cNvGraphicFramePr>
          <p:nvPr>
            <p:extLst>
              <p:ext uri="{D42A27DB-BD31-4B8C-83A1-F6EECF244321}">
                <p14:modId xmlns:p14="http://schemas.microsoft.com/office/powerpoint/2010/main" val="2001234017"/>
              </p:ext>
            </p:extLst>
          </p:nvPr>
        </p:nvGraphicFramePr>
        <p:xfrm>
          <a:off x="274320" y="3050853"/>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ሐ</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ሑ</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ሒ</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ሕ</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ሖ</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20" y="3894079"/>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ማይ (m)</a:t>
            </a:r>
            <a:endParaRPr lang="en-US" sz="1300" dirty="0"/>
          </a:p>
        </p:txBody>
      </p:sp>
      <p:graphicFrame>
        <p:nvGraphicFramePr>
          <p:cNvPr id="29" name="Table 3"/>
          <p:cNvGraphicFramePr>
            <a:graphicFrameLocks noGrp="1"/>
          </p:cNvGraphicFramePr>
          <p:nvPr>
            <p:extLst>
              <p:ext uri="{D42A27DB-BD31-4B8C-83A1-F6EECF244321}">
                <p14:modId xmlns:p14="http://schemas.microsoft.com/office/powerpoint/2010/main" val="3406138148"/>
              </p:ext>
            </p:extLst>
          </p:nvPr>
        </p:nvGraphicFramePr>
        <p:xfrm>
          <a:off x="274317"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mo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(2/7)</a:t>
            </a:r>
            <a:endParaRPr lang="en-US" sz="2200" dirty="0"/>
          </a:p>
        </p:txBody>
      </p:sp>
      <p:sp>
        <p:nvSpPr>
          <p:cNvPr id="5" name="Text 3"/>
          <p:cNvSpPr/>
          <p:nvPr/>
        </p:nvSpPr>
        <p:spPr>
          <a:xfrm>
            <a:off x="274323" y="596954"/>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ርእስ (r)</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665469359"/>
              </p:ext>
            </p:extLst>
          </p:nvPr>
        </p:nvGraphicFramePr>
        <p:xfrm>
          <a:off x="274320" y="88421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ro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ሳት (s)</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ሱ</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ሴ</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ስ</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ሶ</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5"/>
          <p:cNvSpPr/>
          <p:nvPr/>
        </p:nvSpPr>
        <p:spPr>
          <a:xfrm>
            <a:off x="274317" y="2830814"/>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ሻ-ሳት (x)</a:t>
            </a:r>
            <a:endParaRPr lang="en-US" sz="1300" dirty="0"/>
          </a:p>
        </p:txBody>
      </p:sp>
      <p:graphicFrame>
        <p:nvGraphicFramePr>
          <p:cNvPr id="25" name="Table 2"/>
          <p:cNvGraphicFramePr>
            <a:graphicFrameLocks noGrp="1"/>
          </p:cNvGraphicFramePr>
          <p:nvPr>
            <p:extLst>
              <p:ext uri="{D42A27DB-BD31-4B8C-83A1-F6EECF244321}">
                <p14:modId xmlns:p14="http://schemas.microsoft.com/office/powerpoint/2010/main" val="1729368464"/>
              </p:ext>
            </p:extLst>
          </p:nvPr>
        </p:nvGraphicFramePr>
        <p:xfrm>
          <a:off x="274320" y="307815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xo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904488"/>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ቃፍ (q)</a:t>
            </a:r>
            <a:endParaRPr lang="en-US" sz="1300" dirty="0"/>
          </a:p>
        </p:txBody>
      </p:sp>
      <p:graphicFrame>
        <p:nvGraphicFramePr>
          <p:cNvPr id="33" name="Table 3"/>
          <p:cNvGraphicFramePr>
            <a:graphicFrameLocks noGrp="1"/>
          </p:cNvGraphicFramePr>
          <p:nvPr>
            <p:extLst>
              <p:ext uri="{D42A27DB-BD31-4B8C-83A1-F6EECF244321}">
                <p14:modId xmlns:p14="http://schemas.microsoft.com/office/powerpoint/2010/main" val="1332488745"/>
              </p:ext>
            </p:extLst>
          </p:nvPr>
        </p:nvGraphicFramePr>
        <p:xfrm>
          <a:off x="274317"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qo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(3/7)</a:t>
            </a:r>
            <a:endParaRPr lang="en-US" sz="2200" dirty="0"/>
          </a:p>
        </p:txBody>
      </p:sp>
      <p:sp>
        <p:nvSpPr>
          <p:cNvPr id="5" name="Text 3"/>
          <p:cNvSpPr/>
          <p:nvPr/>
        </p:nvSpPr>
        <p:spPr>
          <a:xfrm>
            <a:off x="274323" y="59436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ቬ-ቤት (v)</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772284545"/>
              </p:ext>
            </p:extLst>
          </p:nvPr>
        </p:nvGraphicFramePr>
        <p:xfrm>
          <a:off x="274323" y="88239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vo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ታው (t)</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3269398125"/>
              </p:ext>
            </p:extLst>
          </p:nvPr>
        </p:nvGraphicFramePr>
        <p:xfrm>
          <a:off x="274323" y="203848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ቱ</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ቴ</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ት</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ቶ</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86739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ቻ-ታው (c)</a:t>
            </a:r>
            <a:endParaRPr lang="en-US" sz="1300" dirty="0"/>
          </a:p>
        </p:txBody>
      </p:sp>
      <p:graphicFrame>
        <p:nvGraphicFramePr>
          <p:cNvPr id="28" name="Table 2"/>
          <p:cNvGraphicFramePr>
            <a:graphicFrameLocks noGrp="1"/>
          </p:cNvGraphicFramePr>
          <p:nvPr>
            <p:extLst>
              <p:ext uri="{D42A27DB-BD31-4B8C-83A1-F6EECF244321}">
                <p14:modId xmlns:p14="http://schemas.microsoft.com/office/powerpoint/2010/main" val="4249273856"/>
              </p:ext>
            </p:extLst>
          </p:nvPr>
        </p:nvGraphicFramePr>
        <p:xfrm>
          <a:off x="274320" y="3126535"/>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961384"/>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ኀርም (hh)</a:t>
            </a:r>
            <a:endParaRPr lang="en-US" sz="1300" dirty="0"/>
          </a:p>
        </p:txBody>
      </p:sp>
      <p:graphicFrame>
        <p:nvGraphicFramePr>
          <p:cNvPr id="37" name="Table 3"/>
          <p:cNvGraphicFramePr>
            <a:graphicFrameLocks noGrp="1"/>
          </p:cNvGraphicFramePr>
          <p:nvPr>
            <p:extLst>
              <p:ext uri="{D42A27DB-BD31-4B8C-83A1-F6EECF244321}">
                <p14:modId xmlns:p14="http://schemas.microsoft.com/office/powerpoint/2010/main" val="299392484"/>
              </p:ext>
            </p:extLst>
          </p:nvPr>
        </p:nvGraphicFramePr>
        <p:xfrm>
          <a:off x="274320" y="421741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hho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(4/7)</a:t>
            </a:r>
            <a:endParaRPr lang="en-US" sz="2200" dirty="0"/>
          </a:p>
        </p:txBody>
      </p:sp>
      <p:sp>
        <p:nvSpPr>
          <p:cNvPr id="5" name="Text 3"/>
          <p:cNvSpPr/>
          <p:nvPr/>
        </p:nvSpPr>
        <p:spPr>
          <a:xfrm>
            <a:off x="274320" y="587502"/>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ኛ-ነሐስ (N)</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4057031312"/>
              </p:ext>
            </p:extLst>
          </p:nvPr>
        </p:nvGraphicFramePr>
        <p:xfrm>
          <a:off x="274320" y="843534"/>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No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674495"/>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አልፍ (a)</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798967555"/>
              </p:ext>
            </p:extLst>
          </p:nvPr>
        </p:nvGraphicFramePr>
        <p:xfrm>
          <a:off x="274320" y="194138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ኡ</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ኢ</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ኤ</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ኦ</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aaaa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74320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ካፍ (k)</a:t>
            </a:r>
            <a:endParaRPr lang="en-US" sz="1300" dirty="0"/>
          </a:p>
        </p:txBody>
      </p:sp>
      <p:graphicFrame>
        <p:nvGraphicFramePr>
          <p:cNvPr id="31" name="Table 2"/>
          <p:cNvGraphicFramePr>
            <a:graphicFrameLocks noGrp="1"/>
          </p:cNvGraphicFramePr>
          <p:nvPr>
            <p:extLst>
              <p:ext uri="{D42A27DB-BD31-4B8C-83A1-F6EECF244321}">
                <p14:modId xmlns:p14="http://schemas.microsoft.com/office/powerpoint/2010/main" val="1799622619"/>
              </p:ext>
            </p:extLst>
          </p:nvPr>
        </p:nvGraphicFramePr>
        <p:xfrm>
          <a:off x="274320" y="3015234"/>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6"/>
          <p:cNvSpPr/>
          <p:nvPr/>
        </p:nvSpPr>
        <p:spPr>
          <a:xfrm>
            <a:off x="274320" y="3854196"/>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ኻ-ካፍ (K)</a:t>
            </a:r>
            <a:endParaRPr lang="en-US" sz="1300" dirty="0"/>
          </a:p>
        </p:txBody>
      </p:sp>
      <p:graphicFrame>
        <p:nvGraphicFramePr>
          <p:cNvPr id="41" name="Table 3"/>
          <p:cNvGraphicFramePr>
            <a:graphicFrameLocks noGrp="1"/>
          </p:cNvGraphicFramePr>
          <p:nvPr>
            <p:extLst>
              <p:ext uri="{D42A27DB-BD31-4B8C-83A1-F6EECF244321}">
                <p14:modId xmlns:p14="http://schemas.microsoft.com/office/powerpoint/2010/main" val="521936191"/>
              </p:ext>
            </p:extLst>
          </p:nvPr>
        </p:nvGraphicFramePr>
        <p:xfrm>
          <a:off x="274317" y="4110228"/>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Ko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(5/7)</a:t>
            </a:r>
            <a:endParaRPr lang="en-US" sz="2200" dirty="0"/>
          </a:p>
        </p:txBody>
      </p:sp>
      <p:sp>
        <p:nvSpPr>
          <p:cNvPr id="5" name="Text 3"/>
          <p:cNvSpPr/>
          <p:nvPr/>
        </p:nvSpPr>
        <p:spPr>
          <a:xfrm>
            <a:off x="274320" y="61187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ዐይን (aa)</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2012614040"/>
              </p:ext>
            </p:extLst>
          </p:nvPr>
        </p:nvGraphicFramePr>
        <p:xfrm>
          <a:off x="274320" y="891151"/>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ዐ</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ዑ</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ዒ</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ዕ</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ዖ</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aaa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uu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ii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aa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iie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ee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oo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ዘይ (z)</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ዘ</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ዙ</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ዚ</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ዛ</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ዜ</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ዝ</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ዞ</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816352"/>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ዠ-ዘይ (Z)</a:t>
            </a:r>
            <a:endParaRPr lang="en-US" sz="1300" dirty="0"/>
          </a:p>
        </p:txBody>
      </p:sp>
      <p:graphicFrame>
        <p:nvGraphicFramePr>
          <p:cNvPr id="34" name="Table 2"/>
          <p:cNvGraphicFramePr>
            <a:graphicFrameLocks noGrp="1"/>
          </p:cNvGraphicFramePr>
          <p:nvPr>
            <p:extLst>
              <p:ext uri="{D42A27DB-BD31-4B8C-83A1-F6EECF244321}">
                <p14:modId xmlns:p14="http://schemas.microsoft.com/office/powerpoint/2010/main" val="3071641673"/>
              </p:ext>
            </p:extLst>
          </p:nvPr>
        </p:nvGraphicFramePr>
        <p:xfrm>
          <a:off x="274320" y="307695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ዡ</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ዢ</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ዤ</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ዦ</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Zo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20" y="3899916"/>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የመነ (y)</a:t>
            </a:r>
            <a:endParaRPr lang="en-US" sz="1300" dirty="0"/>
          </a:p>
        </p:txBody>
      </p:sp>
      <p:graphicFrame>
        <p:nvGraphicFramePr>
          <p:cNvPr id="45" name="Table 3"/>
          <p:cNvGraphicFramePr>
            <a:graphicFrameLocks noGrp="1"/>
          </p:cNvGraphicFramePr>
          <p:nvPr>
            <p:extLst>
              <p:ext uri="{D42A27DB-BD31-4B8C-83A1-F6EECF244321}">
                <p14:modId xmlns:p14="http://schemas.microsoft.com/office/powerpoint/2010/main" val="1657203073"/>
              </p:ext>
            </p:extLst>
          </p:nvPr>
        </p:nvGraphicFramePr>
        <p:xfrm>
          <a:off x="274320"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yo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(6/7)</a:t>
            </a:r>
            <a:endParaRPr lang="en-US" sz="2200" dirty="0"/>
          </a:p>
        </p:txBody>
      </p:sp>
      <p:sp>
        <p:nvSpPr>
          <p:cNvPr id="5" name="Text 3"/>
          <p:cNvSpPr/>
          <p:nvPr/>
        </p:nvSpPr>
        <p:spPr>
          <a:xfrm>
            <a:off x="274320" y="57912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ጅ-ድንት (j)</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3048846751"/>
              </p:ext>
            </p:extLst>
          </p:nvPr>
        </p:nvGraphicFramePr>
        <p:xfrm>
          <a:off x="274320" y="856877"/>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jo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698644"/>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ገምል (g)</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3714074355"/>
              </p:ext>
            </p:extLst>
          </p:nvPr>
        </p:nvGraphicFramePr>
        <p:xfrm>
          <a:off x="274320" y="1954676"/>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ጉ</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ጊ</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ጌ</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ጎ</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go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0" y="274320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ጠይት (T)</a:t>
            </a:r>
            <a:endParaRPr lang="en-US" sz="1300" dirty="0"/>
          </a:p>
        </p:txBody>
      </p:sp>
      <p:graphicFrame>
        <p:nvGraphicFramePr>
          <p:cNvPr id="37" name="Table 2"/>
          <p:cNvGraphicFramePr>
            <a:graphicFrameLocks noGrp="1"/>
          </p:cNvGraphicFramePr>
          <p:nvPr>
            <p:extLst>
              <p:ext uri="{D42A27DB-BD31-4B8C-83A1-F6EECF244321}">
                <p14:modId xmlns:p14="http://schemas.microsoft.com/office/powerpoint/2010/main" val="1191702165"/>
              </p:ext>
            </p:extLst>
          </p:nvPr>
        </p:nvGraphicFramePr>
        <p:xfrm>
          <a:off x="274320" y="3050594"/>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ጠ</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ጡ</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ጢ</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ጣ</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ጤ</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ጥ</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ጦ</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To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885681"/>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ጨ-ጠይት (C)</a:t>
            </a:r>
            <a:endParaRPr lang="en-US" sz="1300" dirty="0"/>
          </a:p>
        </p:txBody>
      </p:sp>
      <p:graphicFrame>
        <p:nvGraphicFramePr>
          <p:cNvPr id="49" name="Table 3"/>
          <p:cNvGraphicFramePr>
            <a:graphicFrameLocks noGrp="1"/>
          </p:cNvGraphicFramePr>
          <p:nvPr>
            <p:extLst>
              <p:ext uri="{D42A27DB-BD31-4B8C-83A1-F6EECF244321}">
                <p14:modId xmlns:p14="http://schemas.microsoft.com/office/powerpoint/2010/main" val="3816157058"/>
              </p:ext>
            </p:extLst>
          </p:nvPr>
        </p:nvGraphicFramePr>
        <p:xfrm>
          <a:off x="274317" y="416052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ጨ</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Co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3. Complete Letter Reference (7/7)</a:t>
            </a:r>
            <a:endParaRPr lang="en-US" sz="2200" dirty="0"/>
          </a:p>
        </p:txBody>
      </p:sp>
      <p:sp>
        <p:nvSpPr>
          <p:cNvPr id="5" name="Text 3"/>
          <p:cNvSpPr/>
          <p:nvPr/>
        </p:nvSpPr>
        <p:spPr>
          <a:xfrm>
            <a:off x="274314" y="639885"/>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ጸደይ (S)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3512263749"/>
              </p:ext>
            </p:extLst>
          </p:nvPr>
        </p:nvGraphicFramePr>
        <p:xfrm>
          <a:off x="274314" y="908239"/>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ጽ</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ጾ</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Text 4"/>
          <p:cNvSpPr/>
          <p:nvPr/>
        </p:nvSpPr>
        <p:spPr>
          <a:xfrm>
            <a:off x="274320" y="1737360"/>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ፀጳ (SS)</a:t>
            </a:r>
            <a:endParaRPr lang="en-US" sz="13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274320" y="1993392"/>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ፀ</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ፁ</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ፂ</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ፃ</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ፄ</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ፅ</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ፆ</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SSo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Text 5"/>
          <p:cNvSpPr/>
          <p:nvPr/>
        </p:nvSpPr>
        <p:spPr>
          <a:xfrm>
            <a:off x="274323" y="2821572"/>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አፍ (f)</a:t>
            </a:r>
            <a:endParaRPr lang="en-US" sz="1300" dirty="0"/>
          </a:p>
        </p:txBody>
      </p:sp>
      <p:graphicFrame>
        <p:nvGraphicFramePr>
          <p:cNvPr id="40" name="Table 2"/>
          <p:cNvGraphicFramePr>
            <a:graphicFrameLocks noGrp="1"/>
          </p:cNvGraphicFramePr>
          <p:nvPr>
            <p:extLst>
              <p:ext uri="{D42A27DB-BD31-4B8C-83A1-F6EECF244321}">
                <p14:modId xmlns:p14="http://schemas.microsoft.com/office/powerpoint/2010/main" val="949863173"/>
              </p:ext>
            </p:extLst>
          </p:nvPr>
        </p:nvGraphicFramePr>
        <p:xfrm>
          <a:off x="274320" y="3074670"/>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ፉ</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ፊ</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ፌ</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ፍ</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ፎ</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fo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1" name="Text 6"/>
          <p:cNvSpPr/>
          <p:nvPr/>
        </p:nvSpPr>
        <p:spPr>
          <a:xfrm>
            <a:off x="274317" y="3887594"/>
            <a:ext cx="8595360" cy="256032"/>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ፕሳ (p)</a:t>
            </a:r>
            <a:endParaRPr lang="en-US" sz="1300" dirty="0"/>
          </a:p>
        </p:txBody>
      </p:sp>
      <p:graphicFrame>
        <p:nvGraphicFramePr>
          <p:cNvPr id="53" name="Table 3"/>
          <p:cNvGraphicFramePr>
            <a:graphicFrameLocks noGrp="1"/>
          </p:cNvGraphicFramePr>
          <p:nvPr>
            <p:extLst>
              <p:ext uri="{D42A27DB-BD31-4B8C-83A1-F6EECF244321}">
                <p14:modId xmlns:p14="http://schemas.microsoft.com/office/powerpoint/2010/main" val="2849636846"/>
              </p:ext>
            </p:extLst>
          </p:nvPr>
        </p:nvGraphicFramePr>
        <p:xfrm>
          <a:off x="274317" y="4155948"/>
          <a:ext cx="8595363" cy="822960"/>
        </p:xfrm>
        <a:graphic>
          <a:graphicData uri="http://schemas.openxmlformats.org/drawingml/2006/table">
            <a:tbl>
              <a:tblPr/>
              <a:tblGrid>
                <a:gridCol w="1227909">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27909">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2194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7th</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19456">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ፐ</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ፑ</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ፒ</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ፕ</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ፖ</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pu</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pi</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pa</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pie</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2B2B2B"/>
                          </a:solidFill>
                          <a:latin typeface="Courier New" pitchFamily="34" charset="0"/>
                          <a:ea typeface="Courier New" pitchFamily="34" charset="-122"/>
                          <a:cs typeface="Courier New" pitchFamily="34" charset="-120"/>
                        </a:rPr>
                        <a:t>po</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4. Rounded-Lip (Labialized) Letters</a:t>
            </a:r>
            <a:endParaRPr lang="en-US" sz="2200" dirty="0"/>
          </a:p>
        </p:txBody>
      </p:sp>
      <p:sp>
        <p:nvSpPr>
          <p:cNvPr id="4" name="Text 2"/>
          <p:cNvSpPr/>
          <p:nvPr/>
        </p:nvSpPr>
        <p:spPr>
          <a:xfrm>
            <a:off x="274320" y="808725"/>
            <a:ext cx="8412480" cy="292608"/>
          </a:xfrm>
          <a:prstGeom prst="rect">
            <a:avLst/>
          </a:prstGeom>
          <a:noFill/>
          <a:ln/>
        </p:spPr>
        <p:txBody>
          <a:bodyPr wrap="square" rtlCol="0" anchor="ctr"/>
          <a:lstStyle/>
          <a:p>
            <a:pPr marL="0" indent="0">
              <a:buNone/>
            </a:pPr>
            <a:r>
              <a:rPr lang="en-US" sz="1400" b="1" dirty="0">
                <a:solidFill>
                  <a:srgbClr val="1F6AA5"/>
                </a:solidFill>
                <a:latin typeface="Georgia" pitchFamily="34" charset="0"/>
                <a:ea typeface="Georgia" pitchFamily="34" charset="-122"/>
                <a:cs typeface="Georgia" pitchFamily="34" charset="-120"/>
              </a:rPr>
              <a:t>Type: consonant + u + extra vowel</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2681612760"/>
              </p:ext>
            </p:extLst>
          </p:nvPr>
        </p:nvGraphicFramePr>
        <p:xfrm>
          <a:off x="274320" y="1341898"/>
          <a:ext cx="8412480" cy="3456432"/>
        </p:xfrm>
        <a:graphic>
          <a:graphicData uri="http://schemas.openxmlformats.org/drawingml/2006/table">
            <a:tbl>
              <a:tblPr/>
              <a:tblGrid>
                <a:gridCol w="1399032">
                  <a:extLst>
                    <a:ext uri="{9D8B030D-6E8A-4147-A177-3AD203B41FA5}">
                      <a16:colId xmlns:a16="http://schemas.microsoft.com/office/drawing/2014/main" val="20000"/>
                    </a:ext>
                  </a:extLst>
                </a:gridCol>
                <a:gridCol w="1399032">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Hua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ሗ</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mua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ሟ</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rua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ሯ</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sua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ሷ</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que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qua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bua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ቧ</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cua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ቿ</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hue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ኈ</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hua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ኋ</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nua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ኗ</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Nua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ኟ</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kue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kua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gua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ጓ</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guie</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ጔ</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Tua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ጧ</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Cua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ጯ</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Pua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ጷ</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Sua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ጿ</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fua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ፏ</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00" dirty="0">
                          <a:solidFill>
                            <a:srgbClr val="000000"/>
                          </a:solidFill>
                          <a:latin typeface="Courier New" pitchFamily="34" charset="0"/>
                          <a:ea typeface="Courier New" pitchFamily="34" charset="-122"/>
                          <a:cs typeface="Courier New" pitchFamily="34" charset="-120"/>
                        </a:rPr>
                        <a:t>pua</a:t>
                      </a:r>
                      <a:endParaRPr lang="en-US" sz="11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ፗ</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5. Ethiopic Numbers</a:t>
            </a:r>
            <a:endParaRPr lang="en-US" sz="2200" dirty="0"/>
          </a:p>
        </p:txBody>
      </p:sp>
      <p:sp>
        <p:nvSpPr>
          <p:cNvPr id="4" name="Text 2"/>
          <p:cNvSpPr/>
          <p:nvPr/>
        </p:nvSpPr>
        <p:spPr>
          <a:xfrm>
            <a:off x="365760" y="612648"/>
            <a:ext cx="8412480" cy="292608"/>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Type a hash mark (#) followed by the Arabic number:</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82308875"/>
              </p:ext>
            </p:extLst>
          </p:nvPr>
        </p:nvGraphicFramePr>
        <p:xfrm>
          <a:off x="365760" y="954024"/>
          <a:ext cx="4114800" cy="14935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One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#10</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Ten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#100</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One hundred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200" dirty="0">
                          <a:solidFill>
                            <a:srgbClr val="000000"/>
                          </a:solidFill>
                          <a:latin typeface="Courier New" pitchFamily="34" charset="0"/>
                          <a:ea typeface="Courier New" pitchFamily="34" charset="-122"/>
                          <a:cs typeface="Courier New" pitchFamily="34" charset="-120"/>
                        </a:rPr>
                        <a:t>#10000</a:t>
                      </a:r>
                      <a:endParaRPr lang="en-US" sz="12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Ten thousand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365760" y="2496312"/>
            <a:ext cx="8412480" cy="274320"/>
          </a:xfrm>
          <a:prstGeom prst="rect">
            <a:avLst/>
          </a:prstGeom>
          <a:noFill/>
          <a:ln/>
        </p:spPr>
        <p:txBody>
          <a:bodyPr wrap="square" rtlCol="0" anchor="ctr"/>
          <a:lstStyle/>
          <a:p>
            <a:pPr marL="0" indent="0">
              <a:buNone/>
            </a:pPr>
            <a:r>
              <a:rPr lang="en-US" sz="1300" b="1" dirty="0">
                <a:solidFill>
                  <a:srgbClr val="1F6AA5"/>
                </a:solidFill>
                <a:latin typeface="Georgia" pitchFamily="34" charset="0"/>
                <a:ea typeface="Georgia" pitchFamily="34" charset="-122"/>
                <a:cs typeface="Georgia" pitchFamily="34" charset="-120"/>
              </a:rPr>
              <a:t>Full Number Reference:</a:t>
            </a:r>
            <a:endParaRPr lang="en-US" sz="13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365760" y="2788920"/>
          <a:ext cx="8412480" cy="1975104"/>
        </p:xfrm>
        <a:graphic>
          <a:graphicData uri="http://schemas.openxmlformats.org/drawingml/2006/table">
            <a:tbl>
              <a:tblPr/>
              <a:tblGrid>
                <a:gridCol w="934720">
                  <a:extLst>
                    <a:ext uri="{9D8B030D-6E8A-4147-A177-3AD203B41FA5}">
                      <a16:colId xmlns:a16="http://schemas.microsoft.com/office/drawing/2014/main" val="20000"/>
                    </a:ext>
                  </a:extLst>
                </a:gridCol>
                <a:gridCol w="934720">
                  <a:extLst>
                    <a:ext uri="{9D8B030D-6E8A-4147-A177-3AD203B41FA5}">
                      <a16:colId xmlns:a16="http://schemas.microsoft.com/office/drawing/2014/main" val="20001"/>
                    </a:ext>
                  </a:extLst>
                </a:gridCol>
                <a:gridCol w="934720">
                  <a:extLst>
                    <a:ext uri="{9D8B030D-6E8A-4147-A177-3AD203B41FA5}">
                      <a16:colId xmlns:a16="http://schemas.microsoft.com/office/drawing/2014/main" val="20002"/>
                    </a:ext>
                  </a:extLst>
                </a:gridCol>
                <a:gridCol w="934720">
                  <a:extLst>
                    <a:ext uri="{9D8B030D-6E8A-4147-A177-3AD203B41FA5}">
                      <a16:colId xmlns:a16="http://schemas.microsoft.com/office/drawing/2014/main" val="20003"/>
                    </a:ext>
                  </a:extLst>
                </a:gridCol>
                <a:gridCol w="934720">
                  <a:extLst>
                    <a:ext uri="{9D8B030D-6E8A-4147-A177-3AD203B41FA5}">
                      <a16:colId xmlns:a16="http://schemas.microsoft.com/office/drawing/2014/main" val="20004"/>
                    </a:ext>
                  </a:extLst>
                </a:gridCol>
                <a:gridCol w="934720">
                  <a:extLst>
                    <a:ext uri="{9D8B030D-6E8A-4147-A177-3AD203B41FA5}">
                      <a16:colId xmlns:a16="http://schemas.microsoft.com/office/drawing/2014/main" val="20005"/>
                    </a:ext>
                  </a:extLst>
                </a:gridCol>
                <a:gridCol w="934720">
                  <a:extLst>
                    <a:ext uri="{9D8B030D-6E8A-4147-A177-3AD203B41FA5}">
                      <a16:colId xmlns:a16="http://schemas.microsoft.com/office/drawing/2014/main" val="20006"/>
                    </a:ext>
                  </a:extLst>
                </a:gridCol>
                <a:gridCol w="934720">
                  <a:extLst>
                    <a:ext uri="{9D8B030D-6E8A-4147-A177-3AD203B41FA5}">
                      <a16:colId xmlns:a16="http://schemas.microsoft.com/office/drawing/2014/main" val="20007"/>
                    </a:ext>
                  </a:extLst>
                </a:gridCol>
                <a:gridCol w="934720">
                  <a:extLst>
                    <a:ext uri="{9D8B030D-6E8A-4147-A177-3AD203B41FA5}">
                      <a16:colId xmlns:a16="http://schemas.microsoft.com/office/drawing/2014/main" val="20008"/>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329184">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፩</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፪</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፫</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፬</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፭</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፮</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፯</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፰</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፱</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2"/>
                  </a:ext>
                </a:extLst>
              </a:tr>
              <a:tr h="329184">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፲</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፳</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፴</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፵</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፶</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፷</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፸</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፹</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፺</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፲፻</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፼</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365760" y="4892040"/>
            <a:ext cx="8412480" cy="182880"/>
          </a:xfrm>
          <a:prstGeom prst="rect">
            <a:avLst/>
          </a:prstGeom>
          <a:noFill/>
          <a:ln/>
        </p:spPr>
        <p:txBody>
          <a:bodyPr wrap="square"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Note: To type a literal # before a number, type ## (double hash).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6. Punctuation</a:t>
            </a:r>
            <a:endParaRPr lang="en-US" sz="2200" dirty="0"/>
          </a:p>
        </p:txBody>
      </p:sp>
      <p:sp>
        <p:nvSpPr>
          <p:cNvPr id="4" name="Text 2"/>
          <p:cNvSpPr/>
          <p:nvPr/>
        </p:nvSpPr>
        <p:spPr>
          <a:xfrm>
            <a:off x="365760" y="713232"/>
            <a:ext cx="8412480" cy="365760"/>
          </a:xfrm>
          <a:prstGeom prst="rect">
            <a:avLst/>
          </a:prstGeom>
          <a:noFill/>
          <a:ln/>
        </p:spPr>
        <p:txBody>
          <a:bodyPr wrap="square" rtlCol="0" anchor="ctr"/>
          <a:lstStyle/>
          <a:p>
            <a:pPr marL="0" indent="0">
              <a:buNone/>
            </a:pPr>
            <a:r>
              <a:rPr lang="en-US" sz="1300" dirty="0">
                <a:solidFill>
                  <a:srgbClr val="2B2B2B"/>
                </a:solidFill>
                <a:latin typeface="Calibri" pitchFamily="34" charset="0"/>
                <a:ea typeface="Calibri" pitchFamily="34" charset="-122"/>
                <a:cs typeface="Calibri" pitchFamily="34" charset="-120"/>
              </a:rPr>
              <a:t>Ethiopic punctuation is produced by typing the similar key twice (or more). All standard English punctuation works normally.</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3931920"/>
        </p:xfrm>
        <a:graphic>
          <a:graphicData uri="http://schemas.openxmlformats.org/drawingml/2006/table">
            <a:tbl>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Symbol</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Word separator (classical texts)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Full stop — end of sentence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Comma — pause within a sentence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Semicolon — stronger pause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Introduces a list or quote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Double comma — paragraph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Section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Book / passage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&lt;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Single left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&gt;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Single right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&lt;&lt;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Double left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buNone/>
                      </a:pPr>
                      <a:r>
                        <a:rPr lang="en-US" sz="1400" b="1" dirty="0">
                          <a:solidFill>
                            <a:srgbClr val="1F6AA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Courier New" pitchFamily="34" charset="0"/>
                          <a:ea typeface="Courier New" pitchFamily="34" charset="-122"/>
                          <a:cs typeface="Courier New" pitchFamily="34" charset="-120"/>
                        </a:rPr>
                        <a:t>&gt;&gt;</a:t>
                      </a:r>
                      <a:endParaRPr lang="en-US" sz="13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Double right quotation mark</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F6AA5"/>
          </a:solidFill>
          <a:ln w="12700">
            <a:solidFill>
              <a:srgbClr val="1F6AA5"/>
            </a:solidFill>
            <a:prstDash val="solid"/>
          </a:ln>
        </p:spPr>
        <p:txBody>
          <a:bodyPr/>
          <a:lstStyle/>
          <a:p>
            <a:endParaRPr lang="en-US"/>
          </a:p>
        </p:txBody>
      </p:sp>
      <p:sp>
        <p:nvSpPr>
          <p:cNvPr id="3" name="Text 1"/>
          <p:cNvSpPr/>
          <p:nvPr/>
        </p:nvSpPr>
        <p:spPr>
          <a:xfrm>
            <a:off x="274320" y="0"/>
            <a:ext cx="8595360" cy="5943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7. Quick Reference</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2198480817"/>
              </p:ext>
            </p:extLst>
          </p:nvPr>
        </p:nvGraphicFramePr>
        <p:xfrm>
          <a:off x="274320" y="1115308"/>
          <a:ext cx="8595360" cy="3621024"/>
        </p:xfrm>
        <a:graphic>
          <a:graphicData uri="http://schemas.openxmlformats.org/drawingml/2006/table">
            <a:tbl>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Situation</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to do</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6AA5"/>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Normal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consonant +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se=ሰ  ma=ማ  bo=ቦ</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6th order (no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consonant only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m=ም  s=ስ  b=ብ</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Emphatic/strong sound</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Use CAPITAL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Te=ጠ  Ce=ጨ  Pe=ጰ</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Rare similar-sounding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Double the lowercase key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sse=ሠ  SSe=ፀ</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Rounded-lip letter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consonant + u + extra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mua=ሟ  gua=ጓ</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Bare consonant + vowel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Insert apostrophe ' between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gebr'iel=ገብርኤል</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Literal apostrophe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Type '' (double apostrophe)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k''='</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Ethiopic numeral</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 + number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#1=፩  #10=፲  #100=፻</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Literal # before number</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Type ## (double hash)</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Ethiopic punctuation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100" dirty="0">
                          <a:solidFill>
                            <a:srgbClr val="2B2B2B"/>
                          </a:solidFill>
                          <a:latin typeface="Calibri" pitchFamily="34" charset="0"/>
                          <a:ea typeface="Calibri" pitchFamily="34" charset="-122"/>
                          <a:cs typeface="Calibri" pitchFamily="34" charset="-120"/>
                        </a:rPr>
                        <a:t>Type similar key twice+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urier New" pitchFamily="34" charset="0"/>
                          <a:ea typeface="Courier New" pitchFamily="34" charset="-122"/>
                          <a:cs typeface="Courier New" pitchFamily="34" charset="-120"/>
                        </a:rPr>
                        <a:t>::.=  :=  ,=  &lt;&lt;=«</a:t>
                      </a:r>
                      <a:endParaRPr lang="en-US" sz="1000" dirty="0">
                        <a:latin typeface="Courier New" charset="0"/>
                        <a:ea typeface="Courier New" charset="0"/>
                        <a:cs typeface="Courier New"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Keyman Requirement">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6AA5"/>
          </a:solidFill>
          <a:ln w="12700">
            <a:solidFill>
              <a:srgbClr val="1F6AA5"/>
            </a:solidFill>
            <a:prstDash val="solid"/>
          </a:ln>
        </p:spPr>
        <p:txBody>
          <a:bodyPr/>
          <a:lstStyle/>
          <a:p>
            <a:endParaRPr lang="en-US"/>
          </a:p>
        </p:txBody>
      </p:sp>
      <p:sp>
        <p:nvSpPr>
          <p:cNvPr id="3" name="Shape 1"/>
          <p:cNvSpPr/>
          <p:nvPr/>
        </p:nvSpPr>
        <p:spPr>
          <a:xfrm>
            <a:off x="164592" y="868680"/>
            <a:ext cx="8778240" cy="54864"/>
          </a:xfrm>
          <a:prstGeom prst="rect">
            <a:avLst/>
          </a:prstGeom>
          <a:solidFill>
            <a:srgbClr val="FCDC12"/>
          </a:solidFill>
          <a:ln w="12700">
            <a:solidFill>
              <a:srgbClr val="FCDC12"/>
            </a:solidFill>
            <a:prstDash val="solid"/>
          </a:ln>
        </p:spPr>
        <p:txBody>
          <a:bodyPr/>
          <a:lstStyle/>
          <a:p>
            <a:endParaRPr lang="en-US"/>
          </a:p>
        </p:txBody>
      </p:sp>
      <p:sp>
        <p:nvSpPr>
          <p:cNvPr id="4" name="Title"/>
          <p:cNvSpPr/>
          <p:nvPr/>
        </p:nvSpPr>
        <p:spPr>
          <a:xfrm>
            <a:off x="347472" y="182880"/>
            <a:ext cx="8600000" cy="64000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rPr>
              <a:t>Keyman: A Required Component</a:t>
            </a:r>
          </a:p>
        </p:txBody>
      </p:sp>
      <p:sp>
        <p:nvSpPr>
          <p:cNvPr id="5" name="LeftColumn"/>
          <p:cNvSpPr/>
          <p:nvPr/>
        </p:nvSpPr>
        <p:spPr>
          <a:xfrm>
            <a:off x="347472" y="990600"/>
            <a:ext cx="4100000" cy="3900000"/>
          </a:xfrm>
          <a:prstGeom prst="rect">
            <a:avLst/>
          </a:prstGeom>
          <a:solidFill>
            <a:srgbClr val="144870"/>
          </a:solidFill>
          <a:ln w="12700">
            <a:solidFill>
              <a:srgbClr val="1F6AA5"/>
            </a:solidFill>
            <a:prstDash val="solid"/>
          </a:ln>
        </p:spPr>
        <p:txBody>
          <a:bodyPr wrap="square" rtlCol="0" anchor="t" lIns="180000" rIns="180000" tIns="180000" bIns="180000"/>
          <a:lstStyle/>
          <a:p>
            <a:pPr marL="0" indent="0" algn="l">
              <a:buNone/>
            </a:pPr>
            <a:r>
              <a:rPr lang="en-US" sz="1500" b="1" dirty="0">
                <a:solidFill>
                  <a:srgbClr val="FCDC12"/>
                </a:solidFill>
                <a:latin typeface="Georgia" pitchFamily="34" charset="0"/>
              </a:rPr>
              <a:t>Why Keyman?</a:t>
            </a:r>
          </a:p>
          <a:p>
            <a:pPr marL="0" indent="0" algn="l">
              <a:buNone/>
            </a:pPr>
            <a:r>
              <a:rPr lang="en-US" sz="1200" dirty="0">
                <a:solidFill>
                  <a:srgbClr val="F8F8F4"/>
                </a:solidFill>
                <a:latin typeface="Calibri" pitchFamily="34" charset="0"/>
              </a:rPr>
              <a:t>Amharic Typing Games uses Keyman to enable Amharic text input on your device. Without it, the app cannot convert your keystrokes into Amharic (Ethiopic) script.</a:t>
            </a:r>
          </a:p>
          <a:p>
            <a:pPr marL="0" indent="0" algn="l">
              <a:buNone/>
            </a:pPr>
            <a:endParaRPr lang="en-US" sz="1200" dirty="0"/>
          </a:p>
          <a:p>
            <a:pPr marL="0" indent="0" algn="l">
              <a:buNone/>
            </a:pPr>
            <a:r>
              <a:rPr lang="en-US" sz="1500" b="1" dirty="0">
                <a:solidFill>
                  <a:srgbClr val="FCDC12"/>
                </a:solidFill>
                <a:latin typeface="Georgia" pitchFamily="34" charset="0"/>
              </a:rPr>
              <a:t>Already installed?</a:t>
            </a:r>
          </a:p>
          <a:p>
            <a:pPr marL="0" indent="0" algn="l">
              <a:buNone/>
            </a:pPr>
            <a:r>
              <a:rPr lang="en-US" sz="1200" dirty="0">
                <a:solidFill>
                  <a:srgbClr val="F8F8F4"/>
                </a:solidFill>
                <a:latin typeface="Calibri" pitchFamily="34" charset="0"/>
              </a:rPr>
              <a:t>Most likely yes! When you installed Amharic Typing Games, Keyman and the Amharic keyboard package should have been set up automatically alongside the app.</a:t>
            </a:r>
          </a:p>
        </p:txBody>
      </p:sp>
      <p:sp>
        <p:nvSpPr>
          <p:cNvPr id="6" name="RightColumn"/>
          <p:cNvSpPr/>
          <p:nvPr/>
        </p:nvSpPr>
        <p:spPr>
          <a:xfrm>
            <a:off x="4600000" y="990600"/>
            <a:ext cx="4350000" cy="3900000"/>
          </a:xfrm>
          <a:prstGeom prst="rect">
            <a:avLst/>
          </a:prstGeom>
          <a:solidFill>
            <a:srgbClr val="212121"/>
          </a:solidFill>
          <a:ln w="12700">
            <a:solidFill>
              <a:srgbClr val="1F6AA5"/>
            </a:solidFill>
            <a:prstDash val="solid"/>
          </a:ln>
        </p:spPr>
        <p:txBody>
          <a:bodyPr wrap="square" rtlCol="0" anchor="t" lIns="180000" rIns="180000" tIns="180000" bIns="180000"/>
          <a:lstStyle/>
          <a:p>
            <a:pPr marL="0" indent="0" algn="l">
              <a:buNone/>
            </a:pPr>
            <a:r>
              <a:rPr lang="en-US" sz="1500" b="1" dirty="0">
                <a:solidFill>
                  <a:srgbClr val="FCDC12"/>
                </a:solidFill>
                <a:latin typeface="Georgia" pitchFamily="34" charset="0"/>
              </a:rPr>
              <a:t>What to do next</a:t>
            </a:r>
          </a:p>
          <a:p>
            <a:pPr marL="0" indent="0" algn="l">
              <a:buNone/>
            </a:pPr>
            <a:r>
              <a:rPr lang="en-US" sz="1200" b="1" dirty="0">
                <a:solidFill>
                  <a:srgbClr val="2E75B6"/>
                </a:solidFill>
                <a:latin typeface="Calibri" pitchFamily="34" charset="0"/>
              </a:rPr>
              <a:t xml:space="preserve">Step 1: </a:t>
            </a:r>
            <a:r>
              <a:rPr lang="en-US" sz="1200" dirty="0">
                <a:solidFill>
                  <a:srgbClr val="F8F8F4"/>
                </a:solidFill>
                <a:latin typeface="Calibri" pitchFamily="34" charset="0"/>
              </a:rPr>
              <a:t>Check if Keyman is installed (see next slide)</a:t>
            </a:r>
          </a:p>
          <a:p>
            <a:pPr marL="0" indent="0" algn="l">
              <a:buNone/>
            </a:pPr>
            <a:endParaRPr lang="en-US" sz="1200" dirty="0"/>
          </a:p>
          <a:p>
            <a:pPr marL="0" indent="0" algn="l">
              <a:buNone/>
            </a:pPr>
            <a:r>
              <a:rPr lang="en-US" sz="1200" b="1" dirty="0">
                <a:solidFill>
                  <a:srgbClr val="2E75B6"/>
                </a:solidFill>
                <a:latin typeface="Calibri" pitchFamily="34" charset="0"/>
              </a:rPr>
              <a:t xml:space="preserve">Step 2: </a:t>
            </a:r>
            <a:r>
              <a:rPr lang="en-US" sz="1200" dirty="0">
                <a:solidFill>
                  <a:srgbClr val="F8F8F4"/>
                </a:solidFill>
                <a:latin typeface="Calibri" pitchFamily="34" charset="0"/>
              </a:rPr>
              <a:t>If missing, install Keyman with the Amharic keyboard package (instructions on the following slide)</a:t>
            </a:r>
          </a:p>
          <a:p>
            <a:pPr marL="0" indent="0" algn="l">
              <a:buNone/>
            </a:pPr>
            <a:endParaRPr lang="en-US" sz="1200" dirty="0"/>
          </a:p>
          <a:p>
            <a:pPr marL="0" indent="0" algn="l">
              <a:buNone/>
            </a:pPr>
            <a:r>
              <a:rPr lang="en-US" sz="1200" b="1" dirty="0">
                <a:solidFill>
                  <a:srgbClr val="2E75B6"/>
                </a:solidFill>
                <a:latin typeface="Calibri" pitchFamily="34" charset="0"/>
              </a:rPr>
              <a:t xml:space="preserve">Step 3: </a:t>
            </a:r>
            <a:r>
              <a:rPr lang="en-US" sz="1200" dirty="0">
                <a:solidFill>
                  <a:srgbClr val="F8F8F4"/>
                </a:solidFill>
                <a:latin typeface="Calibri" pitchFamily="34" charset="0"/>
              </a:rPr>
              <a:t>Return to Amharic Typing Games and start playing!</a:t>
            </a:r>
          </a:p>
          <a:p>
            <a:pPr marL="0" indent="0" algn="l">
              <a:buNone/>
            </a:pPr>
            <a:endParaRPr lang="en-US" sz="1200" dirty="0"/>
          </a:p>
          <a:p>
            <a:pPr marL="0" indent="0" algn="l">
              <a:buNone/>
            </a:pPr>
            <a:r>
              <a:rPr lang="en-US" sz="1100" i="1" dirty="0">
                <a:solidFill>
                  <a:srgbClr val="8FA8C8"/>
                </a:solidFill>
                <a:latin typeface="Calibri" pitchFamily="34" charset="0"/>
              </a:rPr>
              <a:t>Tip: If Keyman was already present when you first launched the app, you’re all set — go straight to the verification step.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2063</Words>
  <Application>Microsoft Office PowerPoint</Application>
  <PresentationFormat>On-screen Show (16:9)</PresentationFormat>
  <Paragraphs>984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Adam Asteway</cp:lastModifiedBy>
  <cp:revision>5</cp:revision>
  <dcterms:created xsi:type="dcterms:W3CDTF">2026-05-17T06:23:59Z</dcterms:created>
  <dcterms:modified xsi:type="dcterms:W3CDTF">2026-05-17T06:57:59Z</dcterms:modified>
</cp:coreProperties>
</file>